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7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194560"/>
            <a:ext cx="12191695" cy="2468880"/>
          </a:xfrm>
          <a:prstGeom prst="roundRect">
            <a:avLst/>
          </a:prstGeom>
          <a:solidFill>
            <a:srgbClr val="F04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lam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487" y="640080"/>
            <a:ext cx="1071334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5400" b="1">
                <a:solidFill>
                  <a:srgbClr val="FFFFFF"/>
                </a:solidFill>
                <a:latin typeface="Arial"/>
              </a:rPr>
              <a:t>منصة FLAME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800" b="0">
                <a:solidFill>
                  <a:srgbClr val="FFFFFF"/>
                </a:solidFill>
                <a:latin typeface="Arial"/>
              </a:rPr>
              <a:t>جولة مبسّطة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>
                <a:solidFill>
                  <a:srgbClr val="FFE0D6"/>
                </a:solidFill>
                <a:latin typeface="Arial"/>
              </a:rPr>
              <a:t>ما يمكنك مشاهدته والقيام به — خطوة بخطوة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7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Arial"/>
              </a:rPr>
              <a:t>ترحيب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71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700" b="1">
                <a:solidFill>
                  <a:srgbClr val="FFFFFF"/>
                </a:solidFill>
                <a:latin typeface="Arial"/>
              </a:rPr>
              <a:t>مرحبًا بك في منصة FLAME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713232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>
                <a:solidFill>
                  <a:srgbClr val="FFFFFF"/>
                </a:solidFill>
                <a:latin typeface="Arial"/>
              </a:rPr>
              <a:t>نافذة بسيطة على خدمة FLAME التعليمية — تابع قصة الخدمة وأدِر كل شيء من مكان واحد.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78040" y="1371600"/>
            <a:ext cx="45720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5361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A71914"/>
                </a:solidFill>
                <a:latin typeface="Arial"/>
              </a:rPr>
              <a:t>الخطوات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219456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افتح الموقع من أي جهاز.  </a:t>
            </a:r>
            <a:r>
              <a:rPr b="1" sz="1500">
                <a:solidFill>
                  <a:srgbClr val="A71914"/>
                </a:solidFill>
                <a:latin typeface="Arial"/>
              </a:rPr>
              <a:t>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297180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الزوّار يتصفّحون الصفحات العامة.  </a:t>
            </a:r>
            <a:r>
              <a:rPr b="1" sz="1500">
                <a:solidFill>
                  <a:srgbClr val="A71914"/>
                </a:solidFill>
                <a:latin typeface="Arial"/>
              </a:rPr>
              <a:t>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74904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الفريق يسجّل الدخول لإدارة البيانات.  </a:t>
            </a:r>
            <a:r>
              <a:rPr b="1" sz="1500">
                <a:solidFill>
                  <a:srgbClr val="A71914"/>
                </a:solidFill>
                <a:latin typeface="Arial"/>
              </a:rPr>
              <a:t>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0438" y="1362320"/>
            <a:ext cx="5002884" cy="4956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0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438" y="1417320"/>
            <a:ext cx="4892884" cy="4846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4320" y="6446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4A9D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Arial"/>
              </a:rPr>
              <a:t>للزوّار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4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700" b="1">
                <a:solidFill>
                  <a:srgbClr val="FFFFFF"/>
                </a:solidFill>
                <a:latin typeface="Arial"/>
              </a:rPr>
              <a:t>التقديم للانضمام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713232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>
                <a:solidFill>
                  <a:srgbClr val="FFFFFF"/>
                </a:solidFill>
                <a:latin typeface="Arial"/>
              </a:rPr>
              <a:t>يمكن لأي شخص التقديم للخدمة مباشرة من الصفحة الرئيسية.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78040" y="1371600"/>
            <a:ext cx="45720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5361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4A9D6"/>
                </a:solidFill>
                <a:latin typeface="Arial"/>
              </a:rPr>
              <a:t>الخطوات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219456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اضغط على زر «تقديم».  </a:t>
            </a:r>
            <a:r>
              <a:rPr b="1" sz="1500">
                <a:solidFill>
                  <a:srgbClr val="34A9D6"/>
                </a:solidFill>
                <a:latin typeface="Arial"/>
              </a:rPr>
              <a:t>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297180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تظهر استمارة بسيطة.  </a:t>
            </a:r>
            <a:r>
              <a:rPr b="1" sz="1500">
                <a:solidFill>
                  <a:srgbClr val="34A9D6"/>
                </a:solidFill>
                <a:latin typeface="Arial"/>
              </a:rPr>
              <a:t>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74904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املأها وأرسلها — يستلمها الفريق فورًا.  </a:t>
            </a:r>
            <a:r>
              <a:rPr b="1" sz="1500">
                <a:solidFill>
                  <a:srgbClr val="34A9D6"/>
                </a:solidFill>
                <a:latin typeface="Arial"/>
              </a:rPr>
              <a:t>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200" y="1362320"/>
            <a:ext cx="6419360" cy="42669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02_apply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309360" cy="41569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4320" y="6446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4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700" b="1">
                <a:solidFill>
                  <a:srgbClr val="FFFFFF"/>
                </a:solidFill>
                <a:latin typeface="Arial"/>
              </a:rPr>
              <a:t>قصة الخدمة (لوحة المعلومات)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713232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>
                <a:solidFill>
                  <a:srgbClr val="FFFFFF"/>
                </a:solidFill>
                <a:latin typeface="Arial"/>
              </a:rPr>
              <a:t>ملخّص حيّ وملوّن لما يحدث عبر المدارس.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78040" y="1371600"/>
            <a:ext cx="45720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5361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4A9D6"/>
                </a:solidFill>
                <a:latin typeface="Arial"/>
              </a:rPr>
              <a:t>الخطوات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219456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افتح لوحة المعلومات.  </a:t>
            </a:r>
            <a:r>
              <a:rPr b="1" sz="1500">
                <a:solidFill>
                  <a:srgbClr val="34A9D6"/>
                </a:solidFill>
                <a:latin typeface="Arial"/>
              </a:rPr>
              <a:t>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297180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شاهد الإجماليات: المهام، المدارس، المكتمل، الجاري، لم يبدأ.  </a:t>
            </a:r>
            <a:r>
              <a:rPr b="1" sz="1500">
                <a:solidFill>
                  <a:srgbClr val="34A9D6"/>
                </a:solidFill>
                <a:latin typeface="Arial"/>
              </a:rPr>
              <a:t>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74904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مرّر لاستكشاف تقدّم كل مدرسة.  </a:t>
            </a:r>
            <a:r>
              <a:rPr b="1" sz="1500">
                <a:solidFill>
                  <a:srgbClr val="34A9D6"/>
                </a:solidFill>
                <a:latin typeface="Arial"/>
              </a:rPr>
              <a:t>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34001" y="1362320"/>
            <a:ext cx="2155758" cy="4956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03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001" y="1417320"/>
            <a:ext cx="2045758" cy="4846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4320" y="6446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A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4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700" b="1">
                <a:solidFill>
                  <a:srgbClr val="FFFFFF"/>
                </a:solidFill>
                <a:latin typeface="Arial"/>
              </a:rPr>
              <a:t>اختيار المدة بسهولة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713232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>
                <a:solidFill>
                  <a:srgbClr val="FFFFFF"/>
                </a:solidFill>
                <a:latin typeface="Arial"/>
              </a:rPr>
              <a:t>اختر أي فترة بتقويم سهل — دون كتابة التواريخ.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78040" y="1371600"/>
            <a:ext cx="45720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5361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4A9D6"/>
                </a:solidFill>
                <a:latin typeface="Arial"/>
              </a:rPr>
              <a:t>الخطوات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219456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اضغط على خانة التاريخ.  </a:t>
            </a:r>
            <a:r>
              <a:rPr b="1" sz="1500">
                <a:solidFill>
                  <a:srgbClr val="34A9D6"/>
                </a:solidFill>
                <a:latin typeface="Arial"/>
              </a:rPr>
              <a:t>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297180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استخدم التقويم لاختيار يوم، أو «اليوم» / «مسح».  </a:t>
            </a:r>
            <a:r>
              <a:rPr b="1" sz="1500">
                <a:solidFill>
                  <a:srgbClr val="34A9D6"/>
                </a:solidFill>
                <a:latin typeface="Arial"/>
              </a:rPr>
              <a:t>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74904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تتحدّث لوحة المعلومات حسب الفترة.  </a:t>
            </a:r>
            <a:r>
              <a:rPr b="1" sz="1500">
                <a:solidFill>
                  <a:srgbClr val="34A9D6"/>
                </a:solidFill>
                <a:latin typeface="Arial"/>
              </a:rPr>
              <a:t>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200" y="1362320"/>
            <a:ext cx="6419360" cy="42669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04_datep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309360" cy="41569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4320" y="6446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4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700" b="1">
                <a:solidFill>
                  <a:srgbClr val="FFFFFF"/>
                </a:solidFill>
                <a:latin typeface="Arial"/>
              </a:rPr>
              <a:t>استعراض المهام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713232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>
                <a:solidFill>
                  <a:srgbClr val="FFFFFF"/>
                </a:solidFill>
                <a:latin typeface="Arial"/>
              </a:rPr>
              <a:t>شاهد كل مهمة بحالتها وتفاصيلها.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78040" y="1371600"/>
            <a:ext cx="45720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5361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4A9D6"/>
                </a:solidFill>
                <a:latin typeface="Arial"/>
              </a:rPr>
              <a:t>الخطوات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219456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افتح صفحة المهام.  </a:t>
            </a:r>
            <a:r>
              <a:rPr b="1" sz="1500">
                <a:solidFill>
                  <a:srgbClr val="34A9D6"/>
                </a:solidFill>
                <a:latin typeface="Arial"/>
              </a:rPr>
              <a:t>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297180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كل مهمة تُظهر المكان والزمان والتقدّم.  </a:t>
            </a:r>
            <a:r>
              <a:rPr b="1" sz="1500">
                <a:solidFill>
                  <a:srgbClr val="34A9D6"/>
                </a:solidFill>
                <a:latin typeface="Arial"/>
              </a:rPr>
              <a:t>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74904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الحالة واضحة: مكتمل، جارٍ، أو لم يبدأ.  </a:t>
            </a:r>
            <a:r>
              <a:rPr b="1" sz="1500">
                <a:solidFill>
                  <a:srgbClr val="34A9D6"/>
                </a:solidFill>
                <a:latin typeface="Arial"/>
              </a:rPr>
              <a:t>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200" y="1362320"/>
            <a:ext cx="6419360" cy="42669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05_mis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309360" cy="41569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4320" y="6446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4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700" b="1">
                <a:solidFill>
                  <a:srgbClr val="FFFFFF"/>
                </a:solidFill>
                <a:latin typeface="Arial"/>
              </a:rPr>
              <a:t>استكشاف خريطة العالم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713232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>
                <a:solidFill>
                  <a:srgbClr val="FFFFFF"/>
                </a:solidFill>
                <a:latin typeface="Arial"/>
              </a:rPr>
              <a:t>شاهد أين تصل الخدمة على خريطة تفاعلية.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78040" y="1371600"/>
            <a:ext cx="45720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5361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4A9D6"/>
                </a:solidFill>
                <a:latin typeface="Arial"/>
              </a:rPr>
              <a:t>الخطوات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219456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افتح صفحة الخريطة.  </a:t>
            </a:r>
            <a:r>
              <a:rPr b="1" sz="1500">
                <a:solidFill>
                  <a:srgbClr val="34A9D6"/>
                </a:solidFill>
                <a:latin typeface="Arial"/>
              </a:rPr>
              <a:t>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297180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اضغط على فقاعة الدولة للتركيز عليها.  </a:t>
            </a:r>
            <a:r>
              <a:rPr b="1" sz="1500">
                <a:solidFill>
                  <a:srgbClr val="34A9D6"/>
                </a:solidFill>
                <a:latin typeface="Arial"/>
              </a:rPr>
              <a:t>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74904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اضغط على علامة المدرسة لرؤية مهامها وأفرادها.  </a:t>
            </a:r>
            <a:r>
              <a:rPr b="1" sz="1500">
                <a:solidFill>
                  <a:srgbClr val="34A9D6"/>
                </a:solidFill>
                <a:latin typeface="Arial"/>
              </a:rPr>
              <a:t>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08590" y="1362320"/>
            <a:ext cx="4206579" cy="4956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06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590" y="1417320"/>
            <a:ext cx="4096579" cy="4846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4320" y="6446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A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4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700" b="1">
                <a:solidFill>
                  <a:srgbClr val="FFFFFF"/>
                </a:solidFill>
                <a:latin typeface="Arial"/>
              </a:rPr>
              <a:t>تقويم أعياد الميلاد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713232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>
                <a:solidFill>
                  <a:srgbClr val="FFFFFF"/>
                </a:solidFill>
                <a:latin typeface="Arial"/>
              </a:rPr>
              <a:t>لا تفوّت أي مناسبة — مع نسخ رقم التواصل بلمسة واحدة.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78040" y="1371600"/>
            <a:ext cx="45720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5361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4A9D6"/>
                </a:solidFill>
                <a:latin typeface="Arial"/>
              </a:rPr>
              <a:t>الخطوات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219456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افتح صفحة أعياد الميلاد.  </a:t>
            </a:r>
            <a:r>
              <a:rPr b="1" sz="1500">
                <a:solidFill>
                  <a:srgbClr val="34A9D6"/>
                </a:solidFill>
                <a:latin typeface="Arial"/>
              </a:rPr>
              <a:t>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297180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اختر يومًا لرؤية صاحب عيد الميلاد.  </a:t>
            </a:r>
            <a:r>
              <a:rPr b="1" sz="1500">
                <a:solidFill>
                  <a:srgbClr val="34A9D6"/>
                </a:solidFill>
                <a:latin typeface="Arial"/>
              </a:rPr>
              <a:t>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74904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اضغط على رقم الهاتف لنسخه.  </a:t>
            </a:r>
            <a:r>
              <a:rPr b="1" sz="1500">
                <a:solidFill>
                  <a:srgbClr val="34A9D6"/>
                </a:solidFill>
                <a:latin typeface="Arial"/>
              </a:rPr>
              <a:t>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51330" y="1362320"/>
            <a:ext cx="4921099" cy="4956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07_birthd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330" y="1417320"/>
            <a:ext cx="4811099" cy="4846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4320" y="6446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4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700" b="1">
                <a:solidFill>
                  <a:srgbClr val="FFFFFF"/>
                </a:solidFill>
                <a:latin typeface="Arial"/>
              </a:rPr>
              <a:t>مكتبة المناهج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713232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>
                <a:solidFill>
                  <a:srgbClr val="FFFFFF"/>
                </a:solidFill>
                <a:latin typeface="Arial"/>
              </a:rPr>
              <a:t>اطّلع على مواد المناهج والقيم والتكوين المشتركة.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78040" y="1371600"/>
            <a:ext cx="45720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5361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4A9D6"/>
                </a:solidFill>
                <a:latin typeface="Arial"/>
              </a:rPr>
              <a:t>الخطوات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219456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افتح صفحة المناهج.  </a:t>
            </a:r>
            <a:r>
              <a:rPr b="1" sz="1500">
                <a:solidFill>
                  <a:srgbClr val="34A9D6"/>
                </a:solidFill>
                <a:latin typeface="Arial"/>
              </a:rPr>
              <a:t>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297180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تنقّل بين تبويبات: المناهج، القيم، التكوين.  </a:t>
            </a:r>
            <a:r>
              <a:rPr b="1" sz="1500">
                <a:solidFill>
                  <a:srgbClr val="34A9D6"/>
                </a:solidFill>
                <a:latin typeface="Arial"/>
              </a:rPr>
              <a:t>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74904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افتح أي مستند لقراءته.  </a:t>
            </a:r>
            <a:r>
              <a:rPr b="1" sz="1500">
                <a:solidFill>
                  <a:srgbClr val="34A9D6"/>
                </a:solidFill>
                <a:latin typeface="Arial"/>
              </a:rPr>
              <a:t>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200" y="1362320"/>
            <a:ext cx="6419360" cy="42669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08_curricul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309360" cy="41569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4320" y="6446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A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956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Arial"/>
              </a:rPr>
              <a:t>للفريق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7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700" b="1">
                <a:solidFill>
                  <a:srgbClr val="FFFFFF"/>
                </a:solidFill>
                <a:latin typeface="Arial"/>
              </a:rPr>
              <a:t>تسجيل دخول آمن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713232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>
                <a:solidFill>
                  <a:srgbClr val="FFFFFF"/>
                </a:solidFill>
                <a:latin typeface="Arial"/>
              </a:rPr>
              <a:t>يسجّل الفريق الدخول لإدارة كل شيء بأمان.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78040" y="1371600"/>
            <a:ext cx="45720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5361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27956A"/>
                </a:solidFill>
                <a:latin typeface="Arial"/>
              </a:rPr>
              <a:t>الخطوات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219456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افتح صفحة تسجيل الدخول.  </a:t>
            </a:r>
            <a:r>
              <a:rPr b="1" sz="1500">
                <a:solidFill>
                  <a:srgbClr val="27956A"/>
                </a:solidFill>
                <a:latin typeface="Arial"/>
              </a:rPr>
              <a:t>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297180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أدخل بريدك وكلمة المرور.  </a:t>
            </a:r>
            <a:r>
              <a:rPr b="1" sz="1500">
                <a:solidFill>
                  <a:srgbClr val="27956A"/>
                </a:solidFill>
                <a:latin typeface="Arial"/>
              </a:rPr>
              <a:t>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74904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ترى فقط ما تسمح به صلاحيتك.  </a:t>
            </a:r>
            <a:r>
              <a:rPr b="1" sz="1500">
                <a:solidFill>
                  <a:srgbClr val="27956A"/>
                </a:solidFill>
                <a:latin typeface="Arial"/>
              </a:rPr>
              <a:t>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200" y="1362320"/>
            <a:ext cx="6419360" cy="42669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09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309360" cy="41569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4320" y="6446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A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7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700" b="1">
                <a:solidFill>
                  <a:srgbClr val="FFFFFF"/>
                </a:solidFill>
                <a:latin typeface="Arial"/>
              </a:rPr>
              <a:t>الصفحة الرئيسية للإدارة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713232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>
                <a:solidFill>
                  <a:srgbClr val="FFFFFF"/>
                </a:solidFill>
                <a:latin typeface="Arial"/>
              </a:rPr>
              <a:t>كل ما يديره الفريق منظّم في تبويبات بسيطة.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78040" y="1371600"/>
            <a:ext cx="45720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5361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27956A"/>
                </a:solidFill>
                <a:latin typeface="Arial"/>
              </a:rPr>
              <a:t>الخطوات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219456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بعد تسجيل الدخول تصل إلى منطقة الإدارة.  </a:t>
            </a:r>
            <a:r>
              <a:rPr b="1" sz="1500">
                <a:solidFill>
                  <a:srgbClr val="27956A"/>
                </a:solidFill>
                <a:latin typeface="Arial"/>
              </a:rPr>
              <a:t>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297180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استخدم التبويبات: البيانات، المهام، الأخبار، المستخدمون، النماذج.  </a:t>
            </a:r>
            <a:r>
              <a:rPr b="1" sz="1500">
                <a:solidFill>
                  <a:srgbClr val="27956A"/>
                </a:solidFill>
                <a:latin typeface="Arial"/>
              </a:rPr>
              <a:t>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74904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كل تبويب يحوي أقسامًا سهلة قابلة للطيّ.  </a:t>
            </a:r>
            <a:r>
              <a:rPr b="1" sz="1500">
                <a:solidFill>
                  <a:srgbClr val="27956A"/>
                </a:solidFill>
                <a:latin typeface="Arial"/>
              </a:rPr>
              <a:t>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3986" y="1362320"/>
            <a:ext cx="5155787" cy="4956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10_admin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86" y="1417320"/>
            <a:ext cx="5045787" cy="4846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4320" y="6446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A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7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700" b="1">
                <a:solidFill>
                  <a:srgbClr val="FFFFFF"/>
                </a:solidFill>
                <a:latin typeface="Arial"/>
              </a:rPr>
              <a:t>إنشاء المهام ومتابعتها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713232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>
                <a:solidFill>
                  <a:srgbClr val="FFFFFF"/>
                </a:solidFill>
                <a:latin typeface="Arial"/>
              </a:rPr>
              <a:t>خطّط مهمة، اختر المدارس والأفراد، وتابع حالتها.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78040" y="1371600"/>
            <a:ext cx="45720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5361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27956A"/>
                </a:solidFill>
                <a:latin typeface="Arial"/>
              </a:rPr>
              <a:t>الخطوات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219456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افتح تبويب المهام.  </a:t>
            </a:r>
            <a:r>
              <a:rPr b="1" sz="1500">
                <a:solidFill>
                  <a:srgbClr val="27956A"/>
                </a:solidFill>
                <a:latin typeface="Arial"/>
              </a:rPr>
              <a:t>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297180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أضف العنوان والتواريخ والحالة والمدارس المزارة.  </a:t>
            </a:r>
            <a:r>
              <a:rPr b="1" sz="1500">
                <a:solidFill>
                  <a:srgbClr val="27956A"/>
                </a:solidFill>
                <a:latin typeface="Arial"/>
              </a:rPr>
              <a:t>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74904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عدّل أي مهمة لاحقًا — ويظهر تقدّمها في لوحة المعلومات.  </a:t>
            </a:r>
            <a:r>
              <a:rPr b="1" sz="1500">
                <a:solidFill>
                  <a:srgbClr val="27956A"/>
                </a:solidFill>
                <a:latin typeface="Arial"/>
              </a:rPr>
              <a:t>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57520" y="1362320"/>
            <a:ext cx="4508719" cy="4956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11_admin_mis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520" y="1417320"/>
            <a:ext cx="4398719" cy="4846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4320" y="6446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7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700" b="1">
                <a:solidFill>
                  <a:srgbClr val="FFFFFF"/>
                </a:solidFill>
                <a:latin typeface="Arial"/>
              </a:rPr>
              <a:t>إدارة مدرسة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713232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>
                <a:solidFill>
                  <a:srgbClr val="FFFFFF"/>
                </a:solidFill>
                <a:latin typeface="Arial"/>
              </a:rPr>
              <a:t>افتح مدرسة لإضافة السجلات والمهام والأفراد والمحتوى — في مكان واحد.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78040" y="1371600"/>
            <a:ext cx="45720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5361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27956A"/>
                </a:solidFill>
                <a:latin typeface="Arial"/>
              </a:rPr>
              <a:t>الخطوات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219456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افتح البيانات ← المدارس ووسّع مدرسة.  </a:t>
            </a:r>
            <a:r>
              <a:rPr b="1" sz="1500">
                <a:solidFill>
                  <a:srgbClr val="27956A"/>
                </a:solidFill>
                <a:latin typeface="Arial"/>
              </a:rPr>
              <a:t>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297180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أضف سجلًّا أو مهمة (طبّي، زيارة مدير، إلخ).  </a:t>
            </a:r>
            <a:r>
              <a:rPr b="1" sz="1500">
                <a:solidFill>
                  <a:srgbClr val="27956A"/>
                </a:solidFill>
                <a:latin typeface="Arial"/>
              </a:rPr>
              <a:t>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74904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عيّن المديرين/المعلمين وحدّث الحالات.  </a:t>
            </a:r>
            <a:r>
              <a:rPr b="1" sz="1500">
                <a:solidFill>
                  <a:srgbClr val="27956A"/>
                </a:solidFill>
                <a:latin typeface="Arial"/>
              </a:rPr>
              <a:t>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43015" y="1362320"/>
            <a:ext cx="3337729" cy="4956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12_admin_sch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8015" y="1417320"/>
            <a:ext cx="3227729" cy="4846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4320" y="6446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7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700" b="1">
                <a:solidFill>
                  <a:srgbClr val="FFFFFF"/>
                </a:solidFill>
                <a:latin typeface="Arial"/>
              </a:rPr>
              <a:t>تصميم استمارة التقديم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713232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>
                <a:solidFill>
                  <a:srgbClr val="FFFFFF"/>
                </a:solidFill>
                <a:latin typeface="Arial"/>
              </a:rPr>
              <a:t>حدّد ما يُسأل عنه المتقدّمون — دون الحاجة لمبرمج.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78040" y="1371600"/>
            <a:ext cx="45720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5361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27956A"/>
                </a:solidFill>
                <a:latin typeface="Arial"/>
              </a:rPr>
              <a:t>الخطوات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219456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افتح تبويب استمارة التقديم.  </a:t>
            </a:r>
            <a:r>
              <a:rPr b="1" sz="1500">
                <a:solidFill>
                  <a:srgbClr val="27956A"/>
                </a:solidFill>
                <a:latin typeface="Arial"/>
              </a:rPr>
              <a:t>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297180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أضف الحقول: نص، رقم، قائمة، زر تبديل، أو تقييم.  </a:t>
            </a:r>
            <a:r>
              <a:rPr b="1" sz="1500">
                <a:solidFill>
                  <a:srgbClr val="27956A"/>
                </a:solidFill>
                <a:latin typeface="Arial"/>
              </a:rPr>
              <a:t>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74904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تظهر التغييرات في الاستمارة العامة فورًا.  </a:t>
            </a:r>
            <a:r>
              <a:rPr b="1" sz="1500">
                <a:solidFill>
                  <a:srgbClr val="27956A"/>
                </a:solidFill>
                <a:latin typeface="Arial"/>
              </a:rPr>
              <a:t>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715" y="1362320"/>
            <a:ext cx="5028330" cy="4956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13_admin_formbui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715" y="1417320"/>
            <a:ext cx="4918330" cy="4846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4320" y="6446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A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7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700" b="1">
                <a:solidFill>
                  <a:srgbClr val="FFFFFF"/>
                </a:solidFill>
                <a:latin typeface="Arial"/>
              </a:rPr>
              <a:t>إدارة أعضاء الفريق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713232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>
                <a:solidFill>
                  <a:srgbClr val="FFFFFF"/>
                </a:solidFill>
                <a:latin typeface="Arial"/>
              </a:rPr>
              <a:t>يضيف المسؤول أعضاء الفريق ويحدّد صلاحيات كلٍّ منهم.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78040" y="1371600"/>
            <a:ext cx="45720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5361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27956A"/>
                </a:solidFill>
                <a:latin typeface="Arial"/>
              </a:rPr>
              <a:t>الخطوات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219456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افتح تبويب المستخدمين (للمسؤول فقط).  </a:t>
            </a:r>
            <a:r>
              <a:rPr b="1" sz="1500">
                <a:solidFill>
                  <a:srgbClr val="27956A"/>
                </a:solidFill>
                <a:latin typeface="Arial"/>
              </a:rPr>
              <a:t>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297180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أضف عضوًا وعيّن له صلاحية أو أكثر.  </a:t>
            </a:r>
            <a:r>
              <a:rPr b="1" sz="1500">
                <a:solidFill>
                  <a:srgbClr val="27956A"/>
                </a:solidFill>
                <a:latin typeface="Arial"/>
              </a:rPr>
              <a:t>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74904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50">
                <a:solidFill>
                  <a:srgbClr val="241C1A"/>
                </a:solidFill>
                <a:latin typeface="Arial"/>
              </a:rPr>
              <a:t>الصلاحيات تحدّد من يحرّر المحتوى أو يراجع أو يدير النماذج.  </a:t>
            </a:r>
            <a:r>
              <a:rPr b="1" sz="1500">
                <a:solidFill>
                  <a:srgbClr val="27956A"/>
                </a:solidFill>
                <a:latin typeface="Arial"/>
              </a:rPr>
              <a:t>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6203" y="1362320"/>
            <a:ext cx="6031353" cy="4956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14_admin_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203" y="1417320"/>
            <a:ext cx="5921353" cy="4846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4320" y="6446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A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7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4600" b="1">
                <a:solidFill>
                  <a:srgbClr val="FFFFFF"/>
                </a:solidFill>
                <a:latin typeface="Arial"/>
              </a:rPr>
              <a:t>هذه هي منصة FLAME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000" b="0">
                <a:solidFill>
                  <a:srgbClr val="FFE0D6"/>
                </a:solidFill>
                <a:latin typeface="Arial"/>
              </a:rPr>
              <a:t>بسيطة للزوّار. قويّة للفريق.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>
                <a:solidFill>
                  <a:srgbClr val="FFDCD2"/>
                </a:solidFill>
                <a:latin typeface="Arial"/>
              </a:rPr>
              <a:t>خدمة FLAME · كنيسة St. Paul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