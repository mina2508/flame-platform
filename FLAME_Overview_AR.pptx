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194560"/>
            <a:ext cx="12191695" cy="2468880"/>
          </a:xfrm>
          <a:prstGeom prst="roundRect">
            <a:avLst/>
          </a:prstGeom>
          <a:solidFill>
            <a:srgbClr val="F04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a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7" y="640080"/>
            <a:ext cx="1071334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5400" b="1">
                <a:solidFill>
                  <a:srgbClr val="FFFFFF"/>
                </a:solidFill>
                <a:latin typeface="Arial"/>
              </a:rPr>
              <a:t>منصة فليم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0">
                <a:solidFill>
                  <a:srgbClr val="FFFFFF"/>
                </a:solidFill>
                <a:latin typeface="Arial"/>
              </a:rPr>
              <a:t>جولة مبسّطة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>
                <a:solidFill>
                  <a:srgbClr val="FFE0D6"/>
                </a:solidFill>
                <a:latin typeface="Arial"/>
              </a:rPr>
              <a:t>ما يمكنك مشاهدته والقيام به — خطوة بخطوة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Arial"/>
              </a:rPr>
              <a:t>ترحيب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مرحبًا بك في منصة فليم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نافذة بسيطة على خدمة فليم التعليمية — تابع قصة الخدمة وأدِر كل شيء من مكان واحد.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A71914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الموقع من أي جهاز.  </a:t>
            </a:r>
            <a:r>
              <a:rPr b="1" sz="1500">
                <a:solidFill>
                  <a:srgbClr val="A71914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الزوّار يتصفّحون الصفحات العامة.  </a:t>
            </a:r>
            <a:r>
              <a:rPr b="1" sz="1500">
                <a:solidFill>
                  <a:srgbClr val="A71914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الفريق يسجّل الدخول لإدارة البيانات.  </a:t>
            </a:r>
            <a:r>
              <a:rPr b="1" sz="1500">
                <a:solidFill>
                  <a:srgbClr val="A71914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0438" y="1362320"/>
            <a:ext cx="5002884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38" y="1417320"/>
            <a:ext cx="4892884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A9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Arial"/>
              </a:rPr>
              <a:t>للزوّار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التقديم للانضمام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يمكن لأي شخص التقديم للخدمة مباشرة من الصفحة الرئيسية.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اضغط على زر «تقديم».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تظهر استمارة بسيطة.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املأها وأرسلها — يستلمها الفريق فورًا.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20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2_apply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قصة الخدمة (لوحة المعلومات)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ملخّص حيّ وملوّن لما يحدث عبر المدارس.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لوحة المعلومات.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شاهد الإجماليات: المهام، المدارس، المكتمل، الجاري، لم يبدأ.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مرّر لاستكشاف تقدّم كل مدرسة.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001" y="1362320"/>
            <a:ext cx="2155758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001" y="1417320"/>
            <a:ext cx="2045758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اختيار المدة بسهولة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اختر أي فترة بتقويم سهل — دون كتابة التواريخ.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اضغط على خانة التاريخ.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استخدم التقويم لاختيار يوم، أو «اليوم» / «مسح».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تتحدّث لوحة المعلومات حسب الفترة.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20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4_date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استعراض المهام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شاهد كل مهمة بحالتها وتفاصيلها.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صفحة المهام.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كل مهمة تُظهر المكان والزمان والتقدّم.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الحالة واضحة: مكتمل، جارٍ، أو لم يبدأ.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20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5_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استكشاف خريطة العالم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شاهد أين تصل الخدمة على خريطة تفاعلية.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صفحة الخريطة.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اضغط على فقاعة الدولة للتركيز عليها.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اضغط على علامة المدرسة لرؤية مهامها وأفرادها.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590" y="1362320"/>
            <a:ext cx="420657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6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590" y="1417320"/>
            <a:ext cx="409657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تقويم أعياد الميلاد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لا تفوّت أي مناسبة — مع نسخ رقم التواصل بلمسة واحدة.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صفحة أعياد الميلاد.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اختر يومًا لرؤية صاحب عيد الميلاد.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اضغط على رقم الهاتف لنسخه.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1330" y="1362320"/>
            <a:ext cx="492109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7_birth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30" y="1417320"/>
            <a:ext cx="481109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مكتبة المناهج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اطّلع على مواد المناهج والقيم والتكوين المشتركة.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4A9D6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صفحة المناهج.  </a:t>
            </a:r>
            <a:r>
              <a:rPr b="1" sz="1500">
                <a:solidFill>
                  <a:srgbClr val="34A9D6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تنقّل بين تبويبات: المناهج، القيم، التكوين.  </a:t>
            </a:r>
            <a:r>
              <a:rPr b="1" sz="1500">
                <a:solidFill>
                  <a:srgbClr val="34A9D6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أي مستند لقراءته.  </a:t>
            </a:r>
            <a:r>
              <a:rPr b="1" sz="1500">
                <a:solidFill>
                  <a:srgbClr val="34A9D6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20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8_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95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Arial"/>
              </a:rPr>
              <a:t>للفريق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تسجيل دخول آمن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يسجّل الفريق الدخول لإدارة كل شيء بأمان.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27956A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صفحة تسجيل الدخول.  </a:t>
            </a:r>
            <a:r>
              <a:rPr b="1" sz="1500">
                <a:solidFill>
                  <a:srgbClr val="27956A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أدخل بريدك وكلمة المرور.  </a:t>
            </a:r>
            <a:r>
              <a:rPr b="1" sz="1500">
                <a:solidFill>
                  <a:srgbClr val="27956A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ترى فقط ما تسمح به صلاحيتك.  </a:t>
            </a:r>
            <a:r>
              <a:rPr b="1" sz="1500">
                <a:solidFill>
                  <a:srgbClr val="27956A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20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9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الصفحة الرئيسية للإدارة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كل ما يديره الفريق منظّم في تبويبات بسيطة.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27956A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بعد تسجيل الدخول تصل إلى منطقة الإدارة.  </a:t>
            </a:r>
            <a:r>
              <a:rPr b="1" sz="1500">
                <a:solidFill>
                  <a:srgbClr val="27956A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استخدم التبويبات: البيانات، المهام، الأخبار، المستخدمون، النماذج.  </a:t>
            </a:r>
            <a:r>
              <a:rPr b="1" sz="1500">
                <a:solidFill>
                  <a:srgbClr val="27956A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كل تبويب يحوي أقسامًا سهلة قابلة للطيّ.  </a:t>
            </a:r>
            <a:r>
              <a:rPr b="1" sz="1500">
                <a:solidFill>
                  <a:srgbClr val="27956A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986" y="1362320"/>
            <a:ext cx="5155787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0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86" y="1417320"/>
            <a:ext cx="5045787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إنشاء المهام ومتابعتها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خطّط مهمة، اختر المدارس والأفراد، وتابع حالتها.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27956A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تبويب المهام.  </a:t>
            </a:r>
            <a:r>
              <a:rPr b="1" sz="1500">
                <a:solidFill>
                  <a:srgbClr val="27956A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أضف العنوان والتواريخ والحالة والمدارس المزارة.  </a:t>
            </a:r>
            <a:r>
              <a:rPr b="1" sz="1500">
                <a:solidFill>
                  <a:srgbClr val="27956A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عدّل أي مهمة لاحقًا — ويظهر تقدّمها في لوحة المعلومات.  </a:t>
            </a:r>
            <a:r>
              <a:rPr b="1" sz="1500">
                <a:solidFill>
                  <a:srgbClr val="27956A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7520" y="1362320"/>
            <a:ext cx="450871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1_admin_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520" y="1417320"/>
            <a:ext cx="439871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إدارة مدرسة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افتح مدرسة لإضافة السجلات والمهام والأفراد والمحتوى — في مكان واحد.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27956A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البيانات ← المدارس ووسّع مدرسة.  </a:t>
            </a:r>
            <a:r>
              <a:rPr b="1" sz="1500">
                <a:solidFill>
                  <a:srgbClr val="27956A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أضف سجلًّا أو مهمة (طبّي، زيارة مدير، إلخ).  </a:t>
            </a:r>
            <a:r>
              <a:rPr b="1" sz="1500">
                <a:solidFill>
                  <a:srgbClr val="27956A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عيّن المديرين/المعلمين وحدّث الحالات.  </a:t>
            </a:r>
            <a:r>
              <a:rPr b="1" sz="1500">
                <a:solidFill>
                  <a:srgbClr val="27956A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3015" y="1362320"/>
            <a:ext cx="333772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2_admin_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015" y="1417320"/>
            <a:ext cx="322772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تصميم استمارة التقديم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حدّد ما يُسأل عنه المتقدّمون — دون الحاجة لمبرمج.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27956A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تبويب استمارة التقديم.  </a:t>
            </a:r>
            <a:r>
              <a:rPr b="1" sz="1500">
                <a:solidFill>
                  <a:srgbClr val="27956A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أضف الحقول: نص، رقم، قائمة، زر تبديل، أو تقييم.  </a:t>
            </a:r>
            <a:r>
              <a:rPr b="1" sz="1500">
                <a:solidFill>
                  <a:srgbClr val="27956A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تظهر التغييرات في الاستمارة العامة فورًا.  </a:t>
            </a:r>
            <a:r>
              <a:rPr b="1" sz="1500">
                <a:solidFill>
                  <a:srgbClr val="27956A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715" y="1362320"/>
            <a:ext cx="5028330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3_admin_form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15" y="1417320"/>
            <a:ext cx="491833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Arial"/>
              </a:rPr>
              <a:t>إدارة أعضاء الفريق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Arial"/>
              </a:rPr>
              <a:t>يضيف المسؤول أعضاء الفريق ويحدّد صلاحيات كلٍّ منهم.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27956A"/>
                </a:solidFill>
                <a:latin typeface="Arial"/>
              </a:rPr>
              <a:t>الخطوات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افتح تبويب المستخدمين (للمسؤول فقط).  </a:t>
            </a:r>
            <a:r>
              <a:rPr b="1" sz="1500">
                <a:solidFill>
                  <a:srgbClr val="27956A"/>
                </a:solidFill>
                <a:latin typeface="Arial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أضف عضوًا وعيّن له صلاحية أو أكثر.  </a:t>
            </a:r>
            <a:r>
              <a:rPr b="1" sz="1500">
                <a:solidFill>
                  <a:srgbClr val="27956A"/>
                </a:solidFill>
                <a:latin typeface="Arial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>
                <a:solidFill>
                  <a:srgbClr val="241C1A"/>
                </a:solidFill>
                <a:latin typeface="Arial"/>
              </a:rPr>
              <a:t>الصلاحيات تحدّد من يحرّر المحتوى أو يراجع أو يدير النماذج.  </a:t>
            </a:r>
            <a:r>
              <a:rPr b="1" sz="1500">
                <a:solidFill>
                  <a:srgbClr val="27956A"/>
                </a:solidFill>
                <a:latin typeface="Arial"/>
              </a:rPr>
              <a:t>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203" y="1362320"/>
            <a:ext cx="6031353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4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03" y="1417320"/>
            <a:ext cx="5921353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E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600" b="1">
                <a:solidFill>
                  <a:srgbClr val="FFFFFF"/>
                </a:solidFill>
                <a:latin typeface="Arial"/>
              </a:rPr>
              <a:t>هذه هي منصة فليم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>
                <a:solidFill>
                  <a:srgbClr val="FFE0D6"/>
                </a:solidFill>
                <a:latin typeface="Arial"/>
              </a:rPr>
              <a:t>بسيطة للزوّار. قويّة للفريق.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>
                <a:solidFill>
                  <a:srgbClr val="FFDCD2"/>
                </a:solidFill>
                <a:latin typeface="Arial"/>
              </a:rPr>
              <a:t>خدمة فليم · كنيسة القديس بولس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