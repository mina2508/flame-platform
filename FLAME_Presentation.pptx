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719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2286000"/>
            <a:ext cx="12191695" cy="2286000"/>
          </a:xfrm>
          <a:prstGeom prst="roundRect">
            <a:avLst/>
          </a:prstGeom>
          <a:solidFill>
            <a:srgbClr val="F04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4231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>
                <a:solidFill>
                  <a:srgbClr val="FFFFFF"/>
                </a:solidFill>
                <a:latin typeface="Georgia"/>
              </a:rPr>
              <a:t>FLAME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5204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FFFFFF"/>
                </a:solidFill>
                <a:latin typeface="Segoe UI"/>
              </a:rPr>
              <a:t>Feature Showcase &amp; Walkthrough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21208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DCD2"/>
                </a:solidFill>
                <a:latin typeface="Segoe UI"/>
              </a:rPr>
              <a:t>React + Vite · Node/Express · Prisma · SQLite · Leaflet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A71914"/>
                </a:solidFill>
                <a:latin typeface="Georgia"/>
              </a:rPr>
              <a:t>What's inside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41C1A"/>
                </a:solidFill>
                <a:latin typeface="Segoe UI"/>
              </a:rPr>
              <a:t>🔥  Public Home &amp; Video Hero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938528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41C1A"/>
                </a:solidFill>
                <a:latin typeface="Segoe UI"/>
              </a:rPr>
              <a:t>📊  Public Missions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05456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41C1A"/>
                </a:solidFill>
                <a:latin typeface="Segoe UI"/>
              </a:rPr>
              <a:t>🚑  Missions (Admin): Status, Dates &amp; Editing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072384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41C1A"/>
                </a:solidFill>
                <a:latin typeface="Segoe UI"/>
              </a:rPr>
              <a:t>🏫  School Task Board (Logs, Visits, Content)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39312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41C1A"/>
                </a:solidFill>
                <a:latin typeface="Segoe UI"/>
              </a:rPr>
              <a:t>📚  Curriculum, Values &amp; Formation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20624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41C1A"/>
                </a:solidFill>
                <a:latin typeface="Segoe UI"/>
              </a:rPr>
              <a:t>👥  People: Teachers, Students, Priests, Servants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41C1A"/>
                </a:solidFill>
                <a:latin typeface="Segoe UI"/>
              </a:rPr>
              <a:t>🏥  Medical Team &amp; Availability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938528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41C1A"/>
                </a:solidFill>
                <a:latin typeface="Segoe UI"/>
              </a:rPr>
              <a:t>📝  Dynamic Application 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505456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41C1A"/>
                </a:solidFill>
                <a:latin typeface="Segoe UI"/>
              </a:rPr>
              <a:t>🔐  Users, Roles &amp; Permissions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072384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41C1A"/>
                </a:solidFill>
                <a:latin typeface="Segoe UI"/>
              </a:rPr>
              <a:t>🗺️  World Mission Map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3639312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41C1A"/>
                </a:solidFill>
                <a:latin typeface="Segoe UI"/>
              </a:rPr>
              <a:t>✨  Platform UX: Friendly Date Picker &amp; Brand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420624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41C1A"/>
                </a:solidFill>
                <a:latin typeface="Segoe UI"/>
              </a:rPr>
              <a:t>🎉  Activities, News &amp; Birthdays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A71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Georgia"/>
              </a:rPr>
              <a:t>🔥  Public Home &amp; Video Hero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E0D6"/>
                </a:solidFill>
                <a:latin typeface="Segoe UI"/>
              </a:rPr>
              <a:t>Landing page introducing the FLAME service with an intro video, animated hero, quick links, and an Apply call-to-action.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4754880" cy="5029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8132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04A18"/>
                </a:solidFill>
                <a:latin typeface="Segoe UI"/>
              </a:rPr>
              <a:t>How to use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057400"/>
            <a:ext cx="43708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34A9D6"/>
                </a:solidFill>
              </a:rPr>
              <a:t>1. </a:t>
            </a:r>
            <a:r>
              <a:rPr sz="1200">
                <a:solidFill>
                  <a:srgbClr val="241C1A"/>
                </a:solidFill>
              </a:rPr>
              <a:t>Open the site root (/) in a browser.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624328"/>
            <a:ext cx="43708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34A9D6"/>
                </a:solidFill>
              </a:rPr>
              <a:t>2. </a:t>
            </a:r>
            <a:r>
              <a:rPr sz="1200">
                <a:solidFill>
                  <a:srgbClr val="241C1A"/>
                </a:solidFill>
              </a:rPr>
              <a:t>The hero plays intro.mp4 with Pause / Sound controls.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191256"/>
            <a:ext cx="43708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34A9D6"/>
                </a:solidFill>
              </a:rPr>
              <a:t>3. </a:t>
            </a:r>
            <a:r>
              <a:rPr sz="1200">
                <a:solidFill>
                  <a:srgbClr val="241C1A"/>
                </a:solidFill>
              </a:rPr>
              <a:t>Use the navbar to reach Dashboard, Missions, Activities, News, Curriculum, Birthdays, or Map.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758184"/>
            <a:ext cx="43708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34A9D6"/>
                </a:solidFill>
              </a:rPr>
              <a:t>4. </a:t>
            </a:r>
            <a:r>
              <a:rPr sz="1200">
                <a:solidFill>
                  <a:srgbClr val="241C1A"/>
                </a:solidFill>
              </a:rPr>
              <a:t>Click 'Apply' to open the dynamic application form popup.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325112"/>
            <a:ext cx="43708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34A9D6"/>
                </a:solidFill>
              </a:rPr>
              <a:t>5. </a:t>
            </a:r>
            <a:r>
              <a:rPr sz="1200">
                <a:solidFill>
                  <a:srgbClr val="241C1A"/>
                </a:solidFill>
              </a:rPr>
              <a:t>Fill the fields rendered from the admin-defined form and submit.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2548" y="1316600"/>
            <a:ext cx="3802743" cy="3767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1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7548" y="1371600"/>
            <a:ext cx="3692743" cy="36576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486400" y="5212080"/>
            <a:ext cx="6035040" cy="1188720"/>
          </a:xfrm>
          <a:prstGeom prst="roundRect">
            <a:avLst/>
          </a:prstGeom>
          <a:solidFill>
            <a:srgbClr val="FF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5285232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71914"/>
                </a:solidFill>
                <a:latin typeface="Segoe UI"/>
              </a:rPr>
              <a:t>Key rules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5559552"/>
            <a:ext cx="5760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6B5E5A"/>
                </a:solidFill>
              </a:rPr>
              <a:t>• The Apply form is fully data-driven: fields come from FormField records ordered by `order` where `active = true`.</a:t>
            </a:r>
          </a:p>
          <a:p>
            <a:r>
              <a:rPr sz="950">
                <a:solidFill>
                  <a:srgbClr val="6B5E5A"/>
                </a:solidFill>
              </a:rPr>
              <a:t>• A submission stores all answers as a JSON blob in Application.values.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5E5A"/>
                </a:solidFill>
                <a:latin typeface="Segoe UI"/>
              </a:rPr>
              <a:t>1/12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A71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Georgia"/>
              </a:rPr>
              <a:t>📊  Public Missions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E0D6"/>
                </a:solidFill>
                <a:latin typeface="Segoe UI"/>
              </a:rPr>
              <a:t>Live public story of the service: KPIs, Schools×Missions summary, per-school drill-down of tasks performed vs. not performed, and category totals — all driven by the date range and filters.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4754880" cy="5029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8132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04A18"/>
                </a:solidFill>
                <a:latin typeface="Segoe UI"/>
              </a:rPr>
              <a:t>How to use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057400"/>
            <a:ext cx="43708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34A9D6"/>
                </a:solidFill>
              </a:rPr>
              <a:t>1. </a:t>
            </a:r>
            <a:r>
              <a:rPr sz="1200">
                <a:solidFill>
                  <a:srgbClr val="241C1A"/>
                </a:solidFill>
              </a:rPr>
              <a:t>Open /dashboard.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624328"/>
            <a:ext cx="43708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34A9D6"/>
                </a:solidFill>
              </a:rPr>
              <a:t>2. </a:t>
            </a:r>
            <a:r>
              <a:rPr sz="1200">
                <a:solidFill>
                  <a:srgbClr val="241C1A"/>
                </a:solidFill>
              </a:rPr>
              <a:t>Set Period or From/To dates — the whole dashboard reloads automatically.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191256"/>
            <a:ext cx="43708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34A9D6"/>
                </a:solidFill>
              </a:rPr>
              <a:t>3. </a:t>
            </a:r>
            <a:r>
              <a:rPr sz="1200">
                <a:solidFill>
                  <a:srgbClr val="241C1A"/>
                </a:solidFill>
              </a:rPr>
              <a:t>Filter by Log Type, School, or Status (Completed / Expected / Pending).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758184"/>
            <a:ext cx="43708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34A9D6"/>
                </a:solidFill>
              </a:rPr>
              <a:t>4. </a:t>
            </a:r>
            <a:r>
              <a:rPr sz="1200">
                <a:solidFill>
                  <a:srgbClr val="241C1A"/>
                </a:solidFill>
              </a:rPr>
              <a:t>Read the KPI strip: Total Missions, Active Schools, Completed, Expected, Pending.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325112"/>
            <a:ext cx="43708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34A9D6"/>
                </a:solidFill>
              </a:rPr>
              <a:t>5. </a:t>
            </a:r>
            <a:r>
              <a:rPr sz="1200">
                <a:solidFill>
                  <a:srgbClr val="241C1A"/>
                </a:solidFill>
              </a:rPr>
              <a:t>Open any school to drill into task records grouped by log type.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76936" y="1316600"/>
            <a:ext cx="1653968" cy="3767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2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1936" y="1371600"/>
            <a:ext cx="1543968" cy="36576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486400" y="5212080"/>
            <a:ext cx="6035040" cy="1188720"/>
          </a:xfrm>
          <a:prstGeom prst="roundRect">
            <a:avLst/>
          </a:prstGeom>
          <a:solidFill>
            <a:srgbClr val="FF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5285232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71914"/>
                </a:solidFill>
                <a:latin typeface="Segoe UI"/>
              </a:rPr>
              <a:t>Key rules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5559552"/>
            <a:ext cx="5760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6B5E5A"/>
                </a:solidFill>
              </a:rPr>
              <a:t>• The `to` date is treated as end-of-day (23:59:59.999) so same-day logs are always included.</a:t>
            </a:r>
          </a:p>
          <a:p>
            <a:r>
              <a:rPr sz="950">
                <a:solidFill>
                  <a:srgbClr val="6B5E5A"/>
                </a:solidFill>
              </a:rPr>
              <a:t>• Total Missions counts DISTINCT real missions (by the mission id tagged in a log's notes); a mission visiting N schools counts once but shows activity in all N schools.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5E5A"/>
                </a:solidFill>
                <a:latin typeface="Segoe UI"/>
              </a:rPr>
              <a:t>2/12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A71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Georgia"/>
              </a:rPr>
              <a:t>🚑  Missions (Admin): Status, Dates &amp; Editing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E0D6"/>
                </a:solidFill>
                <a:latin typeface="Segoe UI"/>
              </a:rPr>
              <a:t>Create missions (Medical / Follow-ups / Activities / Values / Formation / Other) with mandatory status, start/end dates and at least one school. Each mission auto-generates dashboard logs and is fully editable.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4754880" cy="5029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8132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04A18"/>
                </a:solidFill>
                <a:latin typeface="Segoe UI"/>
              </a:rPr>
              <a:t>How to use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057400"/>
            <a:ext cx="43708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34A9D6"/>
                </a:solidFill>
              </a:rPr>
              <a:t>1. </a:t>
            </a:r>
            <a:r>
              <a:rPr sz="1200">
                <a:solidFill>
                  <a:srgbClr val="241C1A"/>
                </a:solidFill>
              </a:rPr>
              <a:t>Admin → Missions.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624328"/>
            <a:ext cx="43708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34A9D6"/>
                </a:solidFill>
              </a:rPr>
              <a:t>2. </a:t>
            </a:r>
            <a:r>
              <a:rPr sz="1200">
                <a:solidFill>
                  <a:srgbClr val="241C1A"/>
                </a:solidFill>
              </a:rPr>
              <a:t>Enter a title; pick type and status (Expected / Pending / Completed).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191256"/>
            <a:ext cx="43708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34A9D6"/>
                </a:solidFill>
              </a:rPr>
              <a:t>3. </a:t>
            </a:r>
            <a:r>
              <a:rPr sz="1200">
                <a:solidFill>
                  <a:srgbClr val="241C1A"/>
                </a:solidFill>
              </a:rPr>
              <a:t>Set mandatory start and end dates; select at least one school.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758184"/>
            <a:ext cx="43708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34A9D6"/>
                </a:solidFill>
              </a:rPr>
              <a:t>4. </a:t>
            </a:r>
            <a:r>
              <a:rPr sz="1200">
                <a:solidFill>
                  <a:srgbClr val="241C1A"/>
                </a:solidFill>
              </a:rPr>
              <a:t>Add countries (per-country dates), people and medical team — availability is shown.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325112"/>
            <a:ext cx="43708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34A9D6"/>
                </a:solidFill>
              </a:rPr>
              <a:t>5. </a:t>
            </a:r>
            <a:r>
              <a:rPr sz="1200">
                <a:solidFill>
                  <a:srgbClr val="241C1A"/>
                </a:solidFill>
              </a:rPr>
              <a:t>Create — one dashboard log per visited school is generated concurrently.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892040"/>
            <a:ext cx="43708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34A9D6"/>
                </a:solidFill>
              </a:rPr>
              <a:t>6. </a:t>
            </a:r>
            <a:r>
              <a:rPr sz="1200">
                <a:solidFill>
                  <a:srgbClr val="241C1A"/>
                </a:solidFill>
              </a:rPr>
              <a:t>Use Edit to change status/dates/summary; members become unavailable while a mission is Pending and free again when Completed or deleted.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89026" y="1316600"/>
            <a:ext cx="3429788" cy="3767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12_admin_miss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4026" y="1371600"/>
            <a:ext cx="3319788" cy="36576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486400" y="5212080"/>
            <a:ext cx="6035040" cy="1188720"/>
          </a:xfrm>
          <a:prstGeom prst="roundRect">
            <a:avLst/>
          </a:prstGeom>
          <a:solidFill>
            <a:srgbClr val="FF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0" y="5285232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71914"/>
                </a:solidFill>
                <a:latin typeface="Segoe UI"/>
              </a:rPr>
              <a:t>Key rules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5559552"/>
            <a:ext cx="5760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6B5E5A"/>
                </a:solidFill>
              </a:rPr>
              <a:t>• Server-side validation: title, status, startDate, endDate and ≥1 school are required; endDate must be ≥ startDate (HTTP 400 otherwise).</a:t>
            </a:r>
          </a:p>
          <a:p>
            <a:r>
              <a:rPr sz="950">
                <a:solidFill>
                  <a:srgbClr val="6B5E5A"/>
                </a:solidFill>
              </a:rPr>
              <a:t>• Generated MissionLog.logDate uses the mission startDate; log status mirrors the mission status.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5E5A"/>
                </a:solidFill>
                <a:latin typeface="Segoe UI"/>
              </a:rPr>
              <a:t>3/12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A71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Georgia"/>
              </a:rPr>
              <a:t>🏫  School Task Board (Logs, Visits, Content)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E0D6"/>
                </a:solidFill>
                <a:latin typeface="Segoe UI"/>
              </a:rPr>
              <a:t>Per-school hub: create medical logs / principal visits / tasks (summary + date mandatory), assign people with roles, and track assigned curriculum/values/formation with a status.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4754880" cy="5029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8132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04A18"/>
                </a:solidFill>
                <a:latin typeface="Segoe UI"/>
              </a:rPr>
              <a:t>How to use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057400"/>
            <a:ext cx="43708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34A9D6"/>
                </a:solidFill>
              </a:rPr>
              <a:t>1. </a:t>
            </a:r>
            <a:r>
              <a:rPr sz="1200">
                <a:solidFill>
                  <a:srgbClr val="241C1A"/>
                </a:solidFill>
              </a:rPr>
              <a:t>Admin → Database → Schools → expand a school.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624328"/>
            <a:ext cx="43708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34A9D6"/>
                </a:solidFill>
              </a:rPr>
              <a:t>2. </a:t>
            </a:r>
            <a:r>
              <a:rPr sz="1200">
                <a:solidFill>
                  <a:srgbClr val="241C1A"/>
                </a:solidFill>
              </a:rPr>
              <a:t>'Add Log / Task': choose a type, set date, write a summary (both required), pick a status.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191256"/>
            <a:ext cx="43708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34A9D6"/>
                </a:solidFill>
              </a:rPr>
              <a:t>3. </a:t>
            </a:r>
            <a:r>
              <a:rPr sz="1200">
                <a:solidFill>
                  <a:srgbClr val="241C1A"/>
                </a:solidFill>
              </a:rPr>
              <a:t>For a Values Class, select which values class from the extra selector that appears.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758184"/>
            <a:ext cx="43708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34A9D6"/>
                </a:solidFill>
              </a:rPr>
              <a:t>4. </a:t>
            </a:r>
            <a:r>
              <a:rPr sz="1200">
                <a:solidFill>
                  <a:srgbClr val="241C1A"/>
                </a:solidFill>
              </a:rPr>
              <a:t>'People &amp; Roles': assign an existing person as Principal / Worker / Resident / Teacher / Priest, change a role, or remove from the school.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325112"/>
            <a:ext cx="43708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34A9D6"/>
                </a:solidFill>
              </a:rPr>
              <a:t>5. </a:t>
            </a:r>
            <a:r>
              <a:rPr sz="1200">
                <a:solidFill>
                  <a:srgbClr val="241C1A"/>
                </a:solidFill>
              </a:rPr>
              <a:t>Update any log or assigned-content status (Expected / Pending / Completed) inline.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892040"/>
            <a:ext cx="43708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34A9D6"/>
                </a:solidFill>
              </a:rPr>
              <a:t>6. </a:t>
            </a:r>
            <a:r>
              <a:rPr sz="1200">
                <a:solidFill>
                  <a:srgbClr val="241C1A"/>
                </a:solidFill>
              </a:rPr>
              <a:t>Manage Classes and add Students (linked to a class) in the same panel.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30909" y="1316600"/>
            <a:ext cx="2546022" cy="3767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17_admin_schoo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5909" y="1371600"/>
            <a:ext cx="2436022" cy="36576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5486400" y="5212080"/>
            <a:ext cx="6035040" cy="1188720"/>
          </a:xfrm>
          <a:prstGeom prst="roundRect">
            <a:avLst/>
          </a:prstGeom>
          <a:solidFill>
            <a:srgbClr val="FF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0" y="5285232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71914"/>
                </a:solidFill>
                <a:latin typeface="Segoe UI"/>
              </a:rPr>
              <a:t>Key rules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5559552"/>
            <a:ext cx="5760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6B5E5A"/>
                </a:solidFill>
              </a:rPr>
              <a:t>• School-level logs require a non-empty summary and a date (HTTP 400 otherwise). The summary is stored in MissionLog.notes and mirrored as a TaskRecord 'Summary: ...'.</a:t>
            </a:r>
          </a:p>
          <a:p>
            <a:r>
              <a:rPr sz="950">
                <a:solidFill>
                  <a:srgbClr val="6B5E5A"/>
                </a:solidFill>
              </a:rPr>
              <a:t>• Logging a Values Class also assigns it to the school (if not already) and syncs the per-school status.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704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5E5A"/>
                </a:solidFill>
                <a:latin typeface="Segoe UI"/>
              </a:rPr>
              <a:t>4/12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A71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Georgia"/>
              </a:rPr>
              <a:t>📚  Curriculum, Values &amp; Formation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E0D6"/>
                </a:solidFill>
                <a:latin typeface="Segoe UI"/>
              </a:rPr>
              <a:t>Upload PDF documents (≤12MB) and assign them to multiple schools and classes (classes scoped to the chosen schools). Public visitors browse them by tab and open the PDFs.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4754880" cy="5029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8132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04A18"/>
                </a:solidFill>
                <a:latin typeface="Segoe UI"/>
              </a:rPr>
              <a:t>How to use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057400"/>
            <a:ext cx="43708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34A9D6"/>
                </a:solidFill>
              </a:rPr>
              <a:t>1. </a:t>
            </a:r>
            <a:r>
              <a:rPr sz="1200">
                <a:solidFill>
                  <a:srgbClr val="241C1A"/>
                </a:solidFill>
              </a:rPr>
              <a:t>Admin → Database → Curriculum, Values &amp; Formation.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624328"/>
            <a:ext cx="43708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34A9D6"/>
                </a:solidFill>
              </a:rPr>
              <a:t>2. </a:t>
            </a:r>
            <a:r>
              <a:rPr sz="1200">
                <a:solidFill>
                  <a:srgbClr val="241C1A"/>
                </a:solidFill>
              </a:rPr>
              <a:t>Enter a title + language and upload a PDF.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191256"/>
            <a:ext cx="43708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34A9D6"/>
                </a:solidFill>
              </a:rPr>
              <a:t>3. </a:t>
            </a:r>
            <a:r>
              <a:rPr sz="1200">
                <a:solidFill>
                  <a:srgbClr val="241C1A"/>
                </a:solidFill>
              </a:rPr>
              <a:t>Select schools; the class picker then only lists classes in those schools.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758184"/>
            <a:ext cx="43708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34A9D6"/>
                </a:solidFill>
              </a:rPr>
              <a:t>4. </a:t>
            </a:r>
            <a:r>
              <a:rPr sz="1200">
                <a:solidFill>
                  <a:srgbClr val="241C1A"/>
                </a:solidFill>
              </a:rPr>
              <a:t>Use 'Edit assignments' on an existing item to re-assign schools/classes later.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325112"/>
            <a:ext cx="43708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34A9D6"/>
                </a:solidFill>
              </a:rPr>
              <a:t>5. </a:t>
            </a:r>
            <a:r>
              <a:rPr sz="1200">
                <a:solidFill>
                  <a:srgbClr val="241C1A"/>
                </a:solidFill>
              </a:rPr>
              <a:t>Public users open /curriculum, switch tabs, and open the PDFs.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73208" y="1316600"/>
            <a:ext cx="5661424" cy="3767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06_curriculu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8208" y="1371600"/>
            <a:ext cx="5551424" cy="36576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486400" y="5212080"/>
            <a:ext cx="6035040" cy="1188720"/>
          </a:xfrm>
          <a:prstGeom prst="roundRect">
            <a:avLst/>
          </a:prstGeom>
          <a:solidFill>
            <a:srgbClr val="FF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5285232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71914"/>
                </a:solidFill>
                <a:latin typeface="Segoe UI"/>
              </a:rPr>
              <a:t>Key rules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5559552"/>
            <a:ext cx="5760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6B5E5A"/>
                </a:solidFill>
              </a:rPr>
              <a:t>• Uploads are limited to 12MB (PDF) and stored on disk; the public URL is /uploads/&lt;uuid&gt;.pdf (proxied in dev, served statically in prod).</a:t>
            </a:r>
          </a:p>
          <a:p>
            <a:r>
              <a:rPr sz="950">
                <a:solidFill>
                  <a:srgbClr val="6B5E5A"/>
                </a:solidFill>
              </a:rPr>
              <a:t>• A school assignment carries a status (expected|pending|completed) updatable per school.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5E5A"/>
                </a:solidFill>
                <a:latin typeface="Segoe UI"/>
              </a:rPr>
              <a:t>5/12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A71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Georgia"/>
              </a:rPr>
              <a:t>👥  People: Teachers, Students, Priests, Servants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E0D6"/>
                </a:solidFill>
                <a:latin typeface="Segoe UI"/>
              </a:rPr>
              <a:t>A single reusable Person model powers teachers, priests, servants and school staff; Students are separate and belong to a class. Birthdate cannot be in the future. Country/school filters with live counts and full inline editing.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4754880" cy="5029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8132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04A18"/>
                </a:solidFill>
                <a:latin typeface="Segoe UI"/>
              </a:rPr>
              <a:t>How to use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057400"/>
            <a:ext cx="43708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34A9D6"/>
                </a:solidFill>
              </a:rPr>
              <a:t>1. </a:t>
            </a:r>
            <a:r>
              <a:rPr sz="1200">
                <a:solidFill>
                  <a:srgbClr val="241C1A"/>
                </a:solidFill>
              </a:rPr>
              <a:t>Admin → Database → Teachers / Students / Priests / Servants.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624328"/>
            <a:ext cx="43708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34A9D6"/>
                </a:solidFill>
              </a:rPr>
              <a:t>2. </a:t>
            </a:r>
            <a:r>
              <a:rPr sz="1200">
                <a:solidFill>
                  <a:srgbClr val="241C1A"/>
                </a:solidFill>
              </a:rPr>
              <a:t>Create a record (name required; students need a school + class).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191256"/>
            <a:ext cx="43708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34A9D6"/>
                </a:solidFill>
              </a:rPr>
              <a:t>3. </a:t>
            </a:r>
            <a:r>
              <a:rPr sz="1200">
                <a:solidFill>
                  <a:srgbClr val="241C1A"/>
                </a:solidFill>
              </a:rPr>
              <a:t>Filter by country and school; the section header shows the live count.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758184"/>
            <a:ext cx="43708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34A9D6"/>
                </a:solidFill>
              </a:rPr>
              <a:t>4. </a:t>
            </a:r>
            <a:r>
              <a:rPr sz="1200">
                <a:solidFill>
                  <a:srgbClr val="241C1A"/>
                </a:solidFill>
              </a:rPr>
              <a:t>New records appear instantly — filters auto-clear on create.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325112"/>
            <a:ext cx="43708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34A9D6"/>
                </a:solidFill>
              </a:rPr>
              <a:t>5. </a:t>
            </a:r>
            <a:r>
              <a:rPr sz="1200">
                <a:solidFill>
                  <a:srgbClr val="241C1A"/>
                </a:solidFill>
              </a:rPr>
              <a:t>Use Edit on any row to update details; birthdate pickers block future dates.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44849" y="1316600"/>
            <a:ext cx="3918141" cy="3767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11_admin_data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9849" y="1371600"/>
            <a:ext cx="3808141" cy="36576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486400" y="5212080"/>
            <a:ext cx="6035040" cy="1188720"/>
          </a:xfrm>
          <a:prstGeom prst="roundRect">
            <a:avLst/>
          </a:prstGeom>
          <a:solidFill>
            <a:srgbClr val="FF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5285232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71914"/>
                </a:solidFill>
                <a:latin typeface="Segoe UI"/>
              </a:rPr>
              <a:t>Key rules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5559552"/>
            <a:ext cx="5760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6B5E5A"/>
                </a:solidFill>
              </a:rPr>
              <a:t>• Person.fullName is the only required field; a Person is reusable across schools, residences and missions.</a:t>
            </a:r>
          </a:p>
          <a:p>
            <a:r>
              <a:rPr sz="950">
                <a:solidFill>
                  <a:srgbClr val="6B5E5A"/>
                </a:solidFill>
              </a:rPr>
              <a:t>• Server rejects future birthdate/dob (HTTP 400).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5E5A"/>
                </a:solidFill>
                <a:latin typeface="Segoe UI"/>
              </a:rPr>
              <a:t>6/12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A71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Georgia"/>
              </a:rPr>
              <a:t>🏥  Medical Team &amp; Availability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E0D6"/>
                </a:solidFill>
                <a:latin typeface="Segoe UI"/>
              </a:rPr>
              <a:t>Medical team members with specialty and availability. Availability is surfaced when selecting members for medical missions and flips automatically while a mission is in progress.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4754880" cy="5029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8132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04A18"/>
                </a:solidFill>
                <a:latin typeface="Segoe UI"/>
              </a:rPr>
              <a:t>How to use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057400"/>
            <a:ext cx="43708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34A9D6"/>
                </a:solidFill>
              </a:rPr>
              <a:t>1. </a:t>
            </a:r>
            <a:r>
              <a:rPr sz="1200">
                <a:solidFill>
                  <a:srgbClr val="241C1A"/>
                </a:solidFill>
              </a:rPr>
              <a:t>Admin → Database → Medical Team.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624328"/>
            <a:ext cx="43708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34A9D6"/>
                </a:solidFill>
              </a:rPr>
              <a:t>2. </a:t>
            </a:r>
            <a:r>
              <a:rPr sz="1200">
                <a:solidFill>
                  <a:srgbClr val="241C1A"/>
                </a:solidFill>
              </a:rPr>
              <a:t>Add a member (name, specialty, contact, email).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191256"/>
            <a:ext cx="43708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34A9D6"/>
                </a:solidFill>
              </a:rPr>
              <a:t>3. </a:t>
            </a:r>
            <a:r>
              <a:rPr sz="1200">
                <a:solidFill>
                  <a:srgbClr val="241C1A"/>
                </a:solidFill>
              </a:rPr>
              <a:t>Toggle availability or Edit the member inline.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758184"/>
            <a:ext cx="43708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34A9D6"/>
                </a:solidFill>
              </a:rPr>
              <a:t>4. </a:t>
            </a:r>
            <a:r>
              <a:rPr sz="1200">
                <a:solidFill>
                  <a:srgbClr val="241C1A"/>
                </a:solidFill>
              </a:rPr>
              <a:t>When creating a Medical mission, members show a green/red availability marker.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44849" y="1316600"/>
            <a:ext cx="3918141" cy="3767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11_admin_data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9849" y="1371600"/>
            <a:ext cx="3808141" cy="36576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486400" y="5212080"/>
            <a:ext cx="6035040" cy="1188720"/>
          </a:xfrm>
          <a:prstGeom prst="roundRect">
            <a:avLst/>
          </a:prstGeom>
          <a:solidFill>
            <a:srgbClr val="FF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0" y="5285232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71914"/>
                </a:solidFill>
                <a:latin typeface="Segoe UI"/>
              </a:rPr>
              <a:t>Key rules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5559552"/>
            <a:ext cx="5760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6B5E5A"/>
                </a:solidFill>
              </a:rPr>
              <a:t>• A Medical mission set to Pending marks its selected medics unavailable; Completed/Delete frees them.</a:t>
            </a:r>
          </a:p>
          <a:p>
            <a:r>
              <a:rPr sz="950">
                <a:solidFill>
                  <a:srgbClr val="6B5E5A"/>
                </a:solidFill>
              </a:rPr>
              <a:t>• MissionMedical is a composite-key join (missionId + memberId).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5E5A"/>
                </a:solidFill>
                <a:latin typeface="Segoe UI"/>
              </a:rPr>
              <a:t>7/12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A71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Georgia"/>
              </a:rPr>
              <a:t>📝  Dynamic Application 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E0D6"/>
                </a:solidFill>
                <a:latin typeface="Segoe UI"/>
              </a:rPr>
              <a:t>Admins define the Apply form fields (text / number / dropdown / toggle / rating 1–10). Visitors submit via a popup; admins review all submissions.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4754880" cy="5029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8132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04A18"/>
                </a:solidFill>
                <a:latin typeface="Segoe UI"/>
              </a:rPr>
              <a:t>How to use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057400"/>
            <a:ext cx="43708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34A9D6"/>
                </a:solidFill>
              </a:rPr>
              <a:t>1. </a:t>
            </a:r>
            <a:r>
              <a:rPr sz="1200">
                <a:solidFill>
                  <a:srgbClr val="241C1A"/>
                </a:solidFill>
              </a:rPr>
              <a:t>Admin → Application Form.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624328"/>
            <a:ext cx="43708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34A9D6"/>
                </a:solidFill>
              </a:rPr>
              <a:t>2. </a:t>
            </a:r>
            <a:r>
              <a:rPr sz="1200">
                <a:solidFill>
                  <a:srgbClr val="241C1A"/>
                </a:solidFill>
              </a:rPr>
              <a:t>Add fields and pick a type; for dropdown provide the option values.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191256"/>
            <a:ext cx="43708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34A9D6"/>
                </a:solidFill>
              </a:rPr>
              <a:t>3. </a:t>
            </a:r>
            <a:r>
              <a:rPr sz="1200">
                <a:solidFill>
                  <a:srgbClr val="241C1A"/>
                </a:solidFill>
              </a:rPr>
              <a:t>Mark required, set order, or remove fields.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758184"/>
            <a:ext cx="43708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34A9D6"/>
                </a:solidFill>
              </a:rPr>
              <a:t>4. </a:t>
            </a:r>
            <a:r>
              <a:rPr sz="1200">
                <a:solidFill>
                  <a:srgbClr val="241C1A"/>
                </a:solidFill>
              </a:rPr>
              <a:t>Visitors click Apply on Home and submit.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325112"/>
            <a:ext cx="43708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34A9D6"/>
                </a:solidFill>
              </a:rPr>
              <a:t>5. </a:t>
            </a:r>
            <a:r>
              <a:rPr sz="1200">
                <a:solidFill>
                  <a:srgbClr val="241C1A"/>
                </a:solidFill>
              </a:rPr>
              <a:t>Admin → Applications to review every submission.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92946" y="1316600"/>
            <a:ext cx="3821947" cy="3767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15_admin_formbui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946" y="1371600"/>
            <a:ext cx="3711947" cy="365760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5486400" y="5212080"/>
            <a:ext cx="6035040" cy="1188720"/>
          </a:xfrm>
          <a:prstGeom prst="roundRect">
            <a:avLst/>
          </a:prstGeom>
          <a:solidFill>
            <a:srgbClr val="FF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5285232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71914"/>
                </a:solidFill>
                <a:latin typeface="Segoe UI"/>
              </a:rPr>
              <a:t>Key rules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5559552"/>
            <a:ext cx="5760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6B5E5A"/>
                </a:solidFill>
              </a:rPr>
              <a:t>• FormField.key is unique; type ∈ {text, number, dropdown, toggle, rating}; dropdown options stored in `options`.</a:t>
            </a:r>
          </a:p>
          <a:p>
            <a:r>
              <a:rPr sz="950">
                <a:solidFill>
                  <a:srgbClr val="6B5E5A"/>
                </a:solidFill>
              </a:rPr>
              <a:t>• Only active fields render on the public form, ordered by `order`.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704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5E5A"/>
                </a:solidFill>
                <a:latin typeface="Segoe UI"/>
              </a:rPr>
              <a:t>8/12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A71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Georgia"/>
              </a:rPr>
              <a:t>🔐  Users, Roles &amp; Permissions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E0D6"/>
                </a:solidFill>
                <a:latin typeface="Segoe UI"/>
              </a:rPr>
              <a:t>Multi-role access control via JWT. Admin is the only role that manages users. Roles: admin, content_editor, reviewer, form_manager.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4754880" cy="5029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8132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04A18"/>
                </a:solidFill>
                <a:latin typeface="Segoe UI"/>
              </a:rPr>
              <a:t>How to use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057400"/>
            <a:ext cx="43708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34A9D6"/>
                </a:solidFill>
              </a:rPr>
              <a:t>1. </a:t>
            </a:r>
            <a:r>
              <a:rPr sz="1200">
                <a:solidFill>
                  <a:srgbClr val="241C1A"/>
                </a:solidFill>
              </a:rPr>
              <a:t>Log in as admin (POST /api/auth/login returns a JWT).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624328"/>
            <a:ext cx="43708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34A9D6"/>
                </a:solidFill>
              </a:rPr>
              <a:t>2. </a:t>
            </a:r>
            <a:r>
              <a:rPr sz="1200">
                <a:solidFill>
                  <a:srgbClr val="241C1A"/>
                </a:solidFill>
              </a:rPr>
              <a:t>Admin → Users.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191256"/>
            <a:ext cx="43708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34A9D6"/>
                </a:solidFill>
              </a:rPr>
              <a:t>3. </a:t>
            </a:r>
            <a:r>
              <a:rPr sz="1200">
                <a:solidFill>
                  <a:srgbClr val="241C1A"/>
                </a:solidFill>
              </a:rPr>
              <a:t>Create a user and assign one or more roles (stored comma-separated).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758184"/>
            <a:ext cx="43708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34A9D6"/>
                </a:solidFill>
              </a:rPr>
              <a:t>4. </a:t>
            </a:r>
            <a:r>
              <a:rPr sz="1200">
                <a:solidFill>
                  <a:srgbClr val="241C1A"/>
                </a:solidFill>
              </a:rPr>
              <a:t>Each role grants scoped access, enforced by requireRole on the server.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4447" y="1316600"/>
            <a:ext cx="4578945" cy="3767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14_admin_us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9447" y="1371600"/>
            <a:ext cx="4468945" cy="36576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486400" y="5212080"/>
            <a:ext cx="6035040" cy="1188720"/>
          </a:xfrm>
          <a:prstGeom prst="roundRect">
            <a:avLst/>
          </a:prstGeom>
          <a:solidFill>
            <a:srgbClr val="FF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0" y="5285232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71914"/>
                </a:solidFill>
                <a:latin typeface="Segoe UI"/>
              </a:rPr>
              <a:t>Key rules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5559552"/>
            <a:ext cx="5760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6B5E5A"/>
                </a:solidFill>
              </a:rPr>
              <a:t>• CAN_EDIT_CONTENT = admin, content_editor. CAN_REVIEW_APPLICATIONS = admin, reviewer. CAN_MANAGE_FORM = admin, form_manager. CAN_MANAGE_USERS = admin only.</a:t>
            </a:r>
          </a:p>
          <a:p>
            <a:r>
              <a:rPr sz="950">
                <a:solidFill>
                  <a:srgbClr val="6B5E5A"/>
                </a:solidFill>
              </a:rPr>
              <a:t>• requireRole grants access if ANY of the user's roles is permitted.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5E5A"/>
                </a:solidFill>
                <a:latin typeface="Segoe UI"/>
              </a:rPr>
              <a:t>9/12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A71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Georgia"/>
              </a:rPr>
              <a:t>🗺️  World Mission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E0D6"/>
                </a:solidFill>
                <a:latin typeface="Segoe UI"/>
              </a:rPr>
              <a:t>Leaflet map of school locations with mission and people counts, filterable by country and city — filtering handled server-side.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4754880" cy="5029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8132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04A18"/>
                </a:solidFill>
                <a:latin typeface="Segoe UI"/>
              </a:rPr>
              <a:t>How to use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057400"/>
            <a:ext cx="43708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34A9D6"/>
                </a:solidFill>
              </a:rPr>
              <a:t>1. </a:t>
            </a:r>
            <a:r>
              <a:rPr sz="1200">
                <a:solidFill>
                  <a:srgbClr val="241C1A"/>
                </a:solidFill>
              </a:rPr>
              <a:t>Open /map.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624328"/>
            <a:ext cx="43708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34A9D6"/>
                </a:solidFill>
              </a:rPr>
              <a:t>2. </a:t>
            </a:r>
            <a:r>
              <a:rPr sz="1200">
                <a:solidFill>
                  <a:srgbClr val="241C1A"/>
                </a:solidFill>
              </a:rPr>
              <a:t>Browse pins for each geolocated school (lat/lng) with mission + people counts.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191256"/>
            <a:ext cx="43708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34A9D6"/>
                </a:solidFill>
              </a:rPr>
              <a:t>3. </a:t>
            </a:r>
            <a:r>
              <a:rPr sz="1200">
                <a:solidFill>
                  <a:srgbClr val="241C1A"/>
                </a:solidFill>
              </a:rPr>
              <a:t>Filter by country or city.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03041" y="1316600"/>
            <a:ext cx="3201758" cy="3767599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8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8041" y="1371600"/>
            <a:ext cx="3091758" cy="3657599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5486400" y="5212080"/>
            <a:ext cx="6035040" cy="1188720"/>
          </a:xfrm>
          <a:prstGeom prst="roundRect">
            <a:avLst/>
          </a:prstGeom>
          <a:solidFill>
            <a:srgbClr val="FF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0" y="5285232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71914"/>
                </a:solidFill>
                <a:latin typeface="Segoe UI"/>
              </a:rPr>
              <a:t>Key rules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5559552"/>
            <a:ext cx="5760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6B5E5A"/>
                </a:solidFill>
              </a:rPr>
              <a:t>• Only schools with latitude and longitude set appear as pins.</a:t>
            </a:r>
          </a:p>
          <a:p>
            <a:r>
              <a:rPr sz="950">
                <a:solidFill>
                  <a:srgbClr val="6B5E5A"/>
                </a:solidFill>
              </a:rPr>
              <a:t>• Counts come from Prisma _count on missionLogs and people; results are grouped by country for the sidebar.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704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5E5A"/>
                </a:solidFill>
                <a:latin typeface="Segoe UI"/>
              </a:rPr>
              <a:t>10/12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A71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Georgia"/>
              </a:rPr>
              <a:t>✨  Platform UX: Friendly Date Picker &amp; Brand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E0D6"/>
                </a:solidFill>
                <a:latin typeface="Segoe UI"/>
              </a:rPr>
              <a:t>A custom, responsive calendar date picker replaces the native input everywhere, and the FLAME logo has an enhanced animated brand treatment.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4754880" cy="5029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8132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04A18"/>
                </a:solidFill>
                <a:latin typeface="Segoe UI"/>
              </a:rPr>
              <a:t>How to use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057400"/>
            <a:ext cx="43708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34A9D6"/>
                </a:solidFill>
              </a:rPr>
              <a:t>1. </a:t>
            </a:r>
            <a:r>
              <a:rPr sz="1200">
                <a:solidFill>
                  <a:srgbClr val="241C1A"/>
                </a:solidFill>
              </a:rPr>
              <a:t>Click any date field (dashboard range, mission dates, birthdays, logs).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624328"/>
            <a:ext cx="43708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34A9D6"/>
                </a:solidFill>
              </a:rPr>
              <a:t>2. </a:t>
            </a:r>
            <a:r>
              <a:rPr sz="1200">
                <a:solidFill>
                  <a:srgbClr val="241C1A"/>
                </a:solidFill>
              </a:rPr>
              <a:t>A calendar popover opens with month/year quick-select and ‹ › navigation.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191256"/>
            <a:ext cx="43708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34A9D6"/>
                </a:solidFill>
              </a:rPr>
              <a:t>3. </a:t>
            </a:r>
            <a:r>
              <a:rPr sz="1200">
                <a:solidFill>
                  <a:srgbClr val="241C1A"/>
                </a:solidFill>
              </a:rPr>
              <a:t>Pick a day, or use Today / Clear; disabled days respect min/max.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758184"/>
            <a:ext cx="43708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34A9D6"/>
                </a:solidFill>
              </a:rPr>
              <a:t>4. </a:t>
            </a:r>
            <a:r>
              <a:rPr sz="1200">
                <a:solidFill>
                  <a:srgbClr val="241C1A"/>
                </a:solidFill>
              </a:rPr>
              <a:t>On mobile the picker becomes a centered sheet with a dimmed backdrop.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76936" y="1316600"/>
            <a:ext cx="1653968" cy="3767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2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1936" y="1371600"/>
            <a:ext cx="1543968" cy="36576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486400" y="5212080"/>
            <a:ext cx="6035040" cy="1188720"/>
          </a:xfrm>
          <a:prstGeom prst="roundRect">
            <a:avLst/>
          </a:prstGeom>
          <a:solidFill>
            <a:srgbClr val="FF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0" y="5285232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71914"/>
                </a:solidFill>
                <a:latin typeface="Segoe UI"/>
              </a:rPr>
              <a:t>Key rules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5559552"/>
            <a:ext cx="5760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6B5E5A"/>
                </a:solidFill>
              </a:rPr>
              <a:t>• The picker renders with fixed positioning so it never gets clipped by card overflow, flips above when space is tight, and clamps to the viewport.</a:t>
            </a:r>
          </a:p>
          <a:p>
            <a:r>
              <a:rPr sz="950">
                <a:solidFill>
                  <a:srgbClr val="6B5E5A"/>
                </a:solidFill>
              </a:rPr>
              <a:t>• Values use the ISO YYYY-MM-DD format, so it is a drop-in replacement for the native date input across all forms.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5E5A"/>
                </a:solidFill>
                <a:latin typeface="Segoe UI"/>
              </a:rPr>
              <a:t>11/12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A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A719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46304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Georgia"/>
              </a:rPr>
              <a:t>🎉  Activities, News &amp; Birthdays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94944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E0D6"/>
                </a:solidFill>
                <a:latin typeface="Segoe UI"/>
              </a:rPr>
              <a:t>Admin-managed content surfaced to the public: activities (school / local_flame / other), news posts, and a birthday calendar aggregating people and students — each birthday showing a copyable contact number.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25880"/>
            <a:ext cx="4754880" cy="50292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81328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04A18"/>
                </a:solidFill>
                <a:latin typeface="Segoe UI"/>
              </a:rPr>
              <a:t>How to use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057400"/>
            <a:ext cx="43708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34A9D6"/>
                </a:solidFill>
              </a:rPr>
              <a:t>1. </a:t>
            </a:r>
            <a:r>
              <a:rPr sz="1200">
                <a:solidFill>
                  <a:srgbClr val="241C1A"/>
                </a:solidFill>
              </a:rPr>
              <a:t>Admin manages Activities and News under News &amp; Activities.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624328"/>
            <a:ext cx="43708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34A9D6"/>
                </a:solidFill>
              </a:rPr>
              <a:t>2. </a:t>
            </a:r>
            <a:r>
              <a:rPr sz="1200">
                <a:solidFill>
                  <a:srgbClr val="241C1A"/>
                </a:solidFill>
              </a:rPr>
              <a:t>Birthdays are computed from Person.birthdate (or legacy dob) and Student.birthday.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191256"/>
            <a:ext cx="43708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34A9D6"/>
                </a:solidFill>
              </a:rPr>
              <a:t>3. </a:t>
            </a:r>
            <a:r>
              <a:rPr sz="1200">
                <a:solidFill>
                  <a:srgbClr val="241C1A"/>
                </a:solidFill>
              </a:rPr>
              <a:t>Public users open /activities, /news, /birthdays.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758184"/>
            <a:ext cx="43708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50">
                <a:solidFill>
                  <a:srgbClr val="34A9D6"/>
                </a:solidFill>
              </a:rPr>
              <a:t>4. </a:t>
            </a:r>
            <a:r>
              <a:rPr sz="1200">
                <a:solidFill>
                  <a:srgbClr val="241C1A"/>
                </a:solidFill>
              </a:rPr>
              <a:t>In Birthdays, click the 📞 contact chip to copy the number to the clipboard.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09370" y="1316600"/>
            <a:ext cx="3989100" cy="3767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04_activit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4370" y="1371600"/>
            <a:ext cx="3879100" cy="365760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5486400" y="5212080"/>
            <a:ext cx="6035040" cy="1188720"/>
          </a:xfrm>
          <a:prstGeom prst="roundRect">
            <a:avLst/>
          </a:prstGeom>
          <a:solidFill>
            <a:srgbClr val="FFF2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669280" y="5285232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A71914"/>
                </a:solidFill>
                <a:latin typeface="Segoe UI"/>
              </a:rPr>
              <a:t>Key rules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5559552"/>
            <a:ext cx="5760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50">
                <a:solidFill>
                  <a:srgbClr val="6B5E5A"/>
                </a:solidFill>
              </a:rPr>
              <a:t>• Activity.scope ∈ {school, local_flame, other}; may link to a school.</a:t>
            </a:r>
          </a:p>
          <a:p>
            <a:r>
              <a:rPr sz="950">
                <a:solidFill>
                  <a:srgbClr val="6B5E5A"/>
                </a:solidFill>
              </a:rPr>
              <a:t>• Birthdays endpoint merges Person and Student records and sorts by month/day.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4465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5E5A"/>
                </a:solidFill>
                <a:latin typeface="Segoe UI"/>
              </a:rPr>
              <a:t>12/12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A71914"/>
                </a:solidFill>
                <a:latin typeface="Georgia"/>
              </a:rPr>
              <a:t>Database ERD</a:t>
            </a:r>
          </a:p>
        </p:txBody>
      </p:sp>
      <p:pic>
        <p:nvPicPr>
          <p:cNvPr id="3" name="Picture 2" descr="_e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8011" y="868680"/>
            <a:ext cx="5145497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719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Georgia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749039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FDCD2"/>
                </a:solidFill>
                <a:latin typeface="Segoe UI"/>
              </a:rPr>
              <a:t>FLAME Function · St. Paul Coptic Service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