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286000"/>
            <a:ext cx="12191695" cy="2286000"/>
          </a:xfrm>
          <a:prstGeom prst="roundRect">
            <a:avLst/>
          </a:prstGeom>
          <a:solidFill>
            <a:srgbClr val="F04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231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Georgia"/>
              </a:rPr>
              <a:t>FLAME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204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Feature Showcase &amp;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DCD2"/>
                </a:solidFill>
                <a:latin typeface="Segoe UI"/>
              </a:rPr>
              <a:t>React + Vite · Node/Express · Prisma · SQLite · Leaflet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A71914"/>
                </a:solidFill>
                <a:latin typeface="Georgia"/>
              </a:rPr>
              <a:t>What's inside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🔥  Public Home &amp; Video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5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📊  Public Missions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05456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🚑  Missions (Admin): Status, Dates &amp; Editing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72384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🏫  School Task Board (Logs, Visits, Content)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3931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📚  Curriculum, Values &amp;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👥  People: Teachers, Students, Priests, Servants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🏥  Medical Team &amp; Availability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38528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📝  Dynamic Application 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505456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🔐  Users, Roles &amp; Permissions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72384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🗺️  World Mission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63931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✨  Platform UX: Friendly Date Picker &amp; 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062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1C1A"/>
                </a:solidFill>
                <a:latin typeface="Segoe UI"/>
              </a:rPr>
              <a:t>🎉  Activities, News &amp; Birthdays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🔥  Public Home &amp; Video Hero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Landing page introducing the FLAME service with an intro video, animated hero, quick links, and an Apply call-to-action.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Open the site root (/) in a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The hero plays intro.mp4 with Pause / Sound controls.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Use the navbar to reach Dashboard, Missions, Activities, News, Curriculum, Birthdays, or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Click 'Apply' to open the dynamic application form popup.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Fill the fields rendered from the admin-defined form and submit.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2548" y="1316600"/>
            <a:ext cx="3802743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548" y="1371600"/>
            <a:ext cx="3692743" cy="3657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The Apply form is fully data-driven: fields come from FormField records ordered by `order` where `active = true`.</a:t>
            </a:r>
          </a:p>
          <a:p>
            <a:r>
              <a:rPr sz="950">
                <a:solidFill>
                  <a:srgbClr val="6B5E5A"/>
                </a:solidFill>
              </a:rPr>
              <a:t>• A submission stores all answers as a JSON blob in Application.values.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1/12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📊  Public Missions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Live public story of the service: KPIs, Schools×Missions summary, per-school drill-down of tasks performed vs. not performed, and category totals — all driven by the date range and filters.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Open /dashboard.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Set Period or From/To dates — the whole dashboard reloads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Filter by Log Type, School, or Status (Completed / Expected / Pending).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Read the KPI strip: Total Missions, Active Schools, Completed, Expected, Pending.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Open any school to drill into task records grouped by log type.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3208" y="1316600"/>
            <a:ext cx="5661424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208" y="1371600"/>
            <a:ext cx="5551424" cy="3657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The `to` date is treated as end-of-day (23:59:59.999) so same-day logs are always included.</a:t>
            </a:r>
          </a:p>
          <a:p>
            <a:r>
              <a:rPr sz="950">
                <a:solidFill>
                  <a:srgbClr val="6B5E5A"/>
                </a:solidFill>
              </a:rPr>
              <a:t>• Total Missions counts DISTINCT real missions (by the mission id tagged in a log's notes); a mission visiting N schools counts once but shows activity in all N schools.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2/12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🚑  Missions (Admin): Status, Dates &amp; Editing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Create missions (Medical / Follow-ups / Activities / Values / Formation / Other) with mandatory status, start/end dates and at least one school. Each mission auto-generates dashboard logs and is fully editable.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Missions.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Enter a title; pick type and status (Expected / Pending / Completed).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Set mandatory start and end dates; select at least one school.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Add countries (per-country dates), people and medical team — availability is shown.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Create — one dashboard log per visited school is generated concurrently.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9204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6. </a:t>
            </a:r>
            <a:r>
              <a:rPr sz="1200">
                <a:solidFill>
                  <a:srgbClr val="241C1A"/>
                </a:solidFill>
              </a:rPr>
              <a:t>Use Edit to change status/dates/summary; members become unavailable while a mission is Pending and free again when Completed or deleted.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73208" y="1316600"/>
            <a:ext cx="5661424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208" y="1371600"/>
            <a:ext cx="5551424" cy="36576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Server-side validation: title, status, startDate, endDate and ≥1 school are required; endDate must be ≥ startDate (HTTP 400 otherwise).</a:t>
            </a:r>
          </a:p>
          <a:p>
            <a:r>
              <a:rPr sz="950">
                <a:solidFill>
                  <a:srgbClr val="6B5E5A"/>
                </a:solidFill>
              </a:rPr>
              <a:t>• Generated MissionLog.logDate uses the mission startDate; log status mirrors the mission status.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3/12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🏫  School Task Board (Logs, Visits, Content)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Per-school hub: create medical logs / principal visits / tasks (summary + date mandatory), assign people with roles, and track assigned curriculum/values/formation with a status.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Database → Schools → expand a school.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'Add Log / Task': choose a type, set date, write a summary (both required), pick a status.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For a Values Class, select which values class from the extra selector that appears.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'People &amp; Roles': assign an existing person as Principal / Worker / Resident / Teacher / Priest, change a role, or remove from the school.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Update any log or assigned-content status (Expected / Pending / Completed) inline.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9204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6. </a:t>
            </a:r>
            <a:r>
              <a:rPr sz="1200">
                <a:solidFill>
                  <a:srgbClr val="241C1A"/>
                </a:solidFill>
              </a:rPr>
              <a:t>Manage Classes and add Students (linked to a class) in the same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90411" y="1316600"/>
            <a:ext cx="2627018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17_admin_sch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411" y="1371600"/>
            <a:ext cx="2517018" cy="36576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School-level logs require a non-empty summary and a date (HTTP 400 otherwise). The summary is stored in MissionLog.notes and mirrored as a TaskRecord 'Summary: ...'.</a:t>
            </a:r>
          </a:p>
          <a:p>
            <a:r>
              <a:rPr sz="950">
                <a:solidFill>
                  <a:srgbClr val="6B5E5A"/>
                </a:solidFill>
              </a:rPr>
              <a:t>• Logging a Values Class also assigns it to the school (if not already) and syncs the per-school status.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4/12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📚  Curriculum, Values &amp; 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Upload PDF documents (≤12MB) and assign them to multiple schools and classes (classes scoped to the chosen schools). Public visitors browse them by tab and open the PDFs.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Database → Curriculum, Values &amp; 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Enter a title + language and upload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Select schools; the class picker then only lists classes in those schools.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Use 'Edit assignments' on an existing item to re-assign schools/classes later.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Public users open /curriculum, switch tabs, and open the PDFs.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3208" y="1316600"/>
            <a:ext cx="5661424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6_curricul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208" y="1371600"/>
            <a:ext cx="5551424" cy="3657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Uploads are limited to 12MB (PDF) and stored on disk; the public URL is /uploads/&lt;uuid&gt;.pdf (proxied in dev, served statically in prod).</a:t>
            </a:r>
          </a:p>
          <a:p>
            <a:r>
              <a:rPr sz="950">
                <a:solidFill>
                  <a:srgbClr val="6B5E5A"/>
                </a:solidFill>
              </a:rPr>
              <a:t>• A school assignment carries a status (expected|pending|completed) updatable per school.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5/12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👥  People: Teachers, Students, Priests, Servants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A single reusable Person model powers teachers, priests, servants and school staff; Students are separate and belong to a class. Birthdate cannot be in the future. Country/school filters with live counts and full inline editing.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Database → Teachers / Students / Priests / Servants.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Create a record (name required; students need a school + class).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Filter by country and school; the section header shows the live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New records appear instantly — filters auto-clear on create.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Use Edit on any row to update details; birthdate pickers block future 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44849" y="1316600"/>
            <a:ext cx="3918141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1_admin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849" y="1371600"/>
            <a:ext cx="3808141" cy="3657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Person.fullName is the only required field; a Person is reusable across schools, residences and missions.</a:t>
            </a:r>
          </a:p>
          <a:p>
            <a:r>
              <a:rPr sz="950">
                <a:solidFill>
                  <a:srgbClr val="6B5E5A"/>
                </a:solidFill>
              </a:rPr>
              <a:t>• Server rejects future birthdate/dob (HTTP 400).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6/12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🏥  Medical Team &amp;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Medical team members with specialty and availability. Availability is surfaced when selecting members for medical missions and flips automatically while a mission is in progress.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Database → Medical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Add a member (name, specialty, contact, email).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Toggle availability or Edit the member inline.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When creating a Medical mission, members show a green/red availability marker.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44849" y="1316600"/>
            <a:ext cx="3918141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1_admin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849" y="1371600"/>
            <a:ext cx="3808141" cy="3657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A Medical mission set to Pending marks its selected medics unavailable; Completed/Delete frees them.</a:t>
            </a:r>
          </a:p>
          <a:p>
            <a:r>
              <a:rPr sz="950">
                <a:solidFill>
                  <a:srgbClr val="6B5E5A"/>
                </a:solidFill>
              </a:rPr>
              <a:t>• MissionMedical is a composite-key join (missionId + memberId).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7/12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📝  Dynamic Application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Admins define the Apply form fields (text / number / dropdown / toggle / rating 1–10). Visitors submit via a popup; admins review all submissions.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→ Application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Add fields and pick a type; for dropdown provide the option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Mark required, set order, or remove fields.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Visitors click Apply on Home and submit.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5. </a:t>
            </a:r>
            <a:r>
              <a:rPr sz="1200">
                <a:solidFill>
                  <a:srgbClr val="241C1A"/>
                </a:solidFill>
              </a:rPr>
              <a:t>Admin → Applications to review every submission.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92946" y="1316600"/>
            <a:ext cx="3821947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5_admin_form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946" y="1371600"/>
            <a:ext cx="3711947" cy="36576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FormField.key is unique; type ∈ {text, number, dropdown, toggle, rating}; dropdown options stored in `options`.</a:t>
            </a:r>
          </a:p>
          <a:p>
            <a:r>
              <a:rPr sz="950">
                <a:solidFill>
                  <a:srgbClr val="6B5E5A"/>
                </a:solidFill>
              </a:rPr>
              <a:t>• Only active fields render on the public form, ordered by `order`.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8/12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🔐  Users, Roles &amp;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Multi-role access control via JWT. Admin is the only role that manages users. Roles: admin, content_editor, reviewer, form_manager.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Log in as admin (POST /api/auth/login returns a JWT).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Admin → Users.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Create a user and assign one or more roles (stored comma-separated).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Each role grants scoped access, enforced by requireRole on the server.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4447" y="1316600"/>
            <a:ext cx="4578945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4_admin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447" y="1371600"/>
            <a:ext cx="4468945" cy="3657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CAN_EDIT_CONTENT = admin, content_editor. CAN_REVIEW_APPLICATIONS = admin, reviewer. CAN_MANAGE_FORM = admin, form_manager. CAN_MANAGE_USERS = admin only.</a:t>
            </a:r>
          </a:p>
          <a:p>
            <a:r>
              <a:rPr sz="950">
                <a:solidFill>
                  <a:srgbClr val="6B5E5A"/>
                </a:solidFill>
              </a:rPr>
              <a:t>• requireRole grants access if ANY of the user's roles is permitted.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9/12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🗺️  World Mission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Leaflet map of school locations with mission and people counts, filterable by country and city — filtering handled server-side.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Open /map.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Browse pins for each geolocated school (lat/lng) with mission + people counts.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Filter by country or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041" y="1316600"/>
            <a:ext cx="3201758" cy="376759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8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041" y="1371600"/>
            <a:ext cx="3091758" cy="365759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Only schools with latitude and longitude set appear as pins.</a:t>
            </a:r>
          </a:p>
          <a:p>
            <a:r>
              <a:rPr sz="950">
                <a:solidFill>
                  <a:srgbClr val="6B5E5A"/>
                </a:solidFill>
              </a:rPr>
              <a:t>• Counts come from Prisma _count on missionLogs and people; results are grouped by country for the sidebar.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10/12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✨  Platform UX: Friendly Date Picker &amp; Brand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A custom, responsive calendar date picker replaces the native input everywhere, and the FLAME logo has an enhanced animated brand treatment.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Click any date field (dashboard range, mission dates, birthdays, logs).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A calendar popover opens with month/year quick-select and ‹ › navigation.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Pick a day, or use Today / Clear; disabled days respect min/max.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On mobile the picker becomes a centered sheet with a dimmed backdrop.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73208" y="1316600"/>
            <a:ext cx="5661424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208" y="1371600"/>
            <a:ext cx="5551424" cy="3657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The picker renders with fixed positioning so it never gets clipped by card overflow, flips above when space is tight, and clamps to the viewport.</a:t>
            </a:r>
          </a:p>
          <a:p>
            <a:r>
              <a:rPr sz="950">
                <a:solidFill>
                  <a:srgbClr val="6B5E5A"/>
                </a:solidFill>
              </a:rPr>
              <a:t>• Values use the ISO YYYY-MM-DD format, so it is a drop-in replacement for the native date input across all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11/12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A71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Georgia"/>
              </a:rPr>
              <a:t>🎉  Activities, News &amp; Birthdays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D6"/>
                </a:solidFill>
                <a:latin typeface="Segoe UI"/>
              </a:rPr>
              <a:t>Admin-managed content surfaced to the public: activities (school / local_flame / other), news posts, and a birthday calendar aggregating people and students — each birthday showing a copyable contact number.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475488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4A18"/>
                </a:solidFill>
                <a:latin typeface="Segoe UI"/>
              </a:rPr>
              <a:t>How to use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1. </a:t>
            </a:r>
            <a:r>
              <a:rPr sz="1200">
                <a:solidFill>
                  <a:srgbClr val="241C1A"/>
                </a:solidFill>
              </a:rPr>
              <a:t>Admin manages Activities and News under News &amp; Activities.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2. </a:t>
            </a:r>
            <a:r>
              <a:rPr sz="1200">
                <a:solidFill>
                  <a:srgbClr val="241C1A"/>
                </a:solidFill>
              </a:rPr>
              <a:t>Birthdays are computed from Person.birthdate (or legacy dob) and Student.birthday.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91256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3. </a:t>
            </a:r>
            <a:r>
              <a:rPr sz="1200">
                <a:solidFill>
                  <a:srgbClr val="241C1A"/>
                </a:solidFill>
              </a:rPr>
              <a:t>Public users open /activities, /news, /birthdays.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58184"/>
            <a:ext cx="43708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50">
                <a:solidFill>
                  <a:srgbClr val="34A9D6"/>
                </a:solidFill>
              </a:rPr>
              <a:t>4. </a:t>
            </a:r>
            <a:r>
              <a:rPr sz="1200">
                <a:solidFill>
                  <a:srgbClr val="241C1A"/>
                </a:solidFill>
              </a:rPr>
              <a:t>In Birthdays, click the 📞 contact chip to copy the number to the clipboard.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09370" y="1316600"/>
            <a:ext cx="3989100" cy="3767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4_activ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370" y="1371600"/>
            <a:ext cx="3879100" cy="36576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0" y="5212080"/>
            <a:ext cx="6035040" cy="1188720"/>
          </a:xfrm>
          <a:prstGeom prst="roundRect">
            <a:avLst/>
          </a:prstGeom>
          <a:solidFill>
            <a:srgbClr val="FF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2852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1914"/>
                </a:solidFill>
                <a:latin typeface="Segoe UI"/>
              </a:rPr>
              <a:t>Key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5559552"/>
            <a:ext cx="5760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B5E5A"/>
                </a:solidFill>
              </a:rPr>
              <a:t>• Activity.scope ∈ {school, local_flame, other}; may link to a school.</a:t>
            </a:r>
          </a:p>
          <a:p>
            <a:r>
              <a:rPr sz="950">
                <a:solidFill>
                  <a:srgbClr val="6B5E5A"/>
                </a:solidFill>
              </a:rPr>
              <a:t>• Birthdays endpoint merges Person and Student records and sorts by month/day.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5E5A"/>
                </a:solidFill>
                <a:latin typeface="Segoe UI"/>
              </a:rPr>
              <a:t>12/12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A71914"/>
                </a:solidFill>
                <a:latin typeface="Georgia"/>
              </a:rPr>
              <a:t>Database ERD</a:t>
            </a:r>
          </a:p>
        </p:txBody>
      </p:sp>
      <p:pic>
        <p:nvPicPr>
          <p:cNvPr id="3" name="Picture 2" descr="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011" y="868680"/>
            <a:ext cx="5145497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19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DCD2"/>
                </a:solidFill>
                <a:latin typeface="Segoe UI"/>
              </a:rPr>
              <a:t>FLAME Function · St. Paul Coptic 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